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A112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ounded Rectangle 2"/>
          <p:cNvSpPr/>
          <p:nvPr/>
        </p:nvSpPr>
        <p:spPr>
          <a:xfrm>
            <a:off x="731520" y="640080"/>
            <a:ext cx="4114800" cy="365760"/>
          </a:xfrm>
          <a:prstGeom prst="roundRect">
            <a:avLst/>
          </a:prstGeom>
          <a:solidFill>
            <a:srgbClr val="102A55"/>
          </a:solidFill>
          <a:ln w="19050">
            <a:solidFill>
              <a:srgbClr val="00E5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050" b="1">
                <a:solidFill>
                  <a:srgbClr val="00E5FF"/>
                </a:solidFill>
              </a:defRPr>
            </a:pPr>
            <a:r>
              <a:t>SMART INDIA HACKATHON 2026 | FINAL EVALUATION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1188720"/>
            <a:ext cx="10698480" cy="1463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3600" b="1">
                <a:solidFill>
                  <a:srgbClr val="FFFFFF"/>
                </a:solidFill>
              </a:defRPr>
            </a:pPr>
            <a:r>
              <a:t>Universal Log Pre-processing Framework</a:t>
            </a:r>
          </a:p>
          <a:p>
            <a:pPr>
              <a:spcBef>
                <a:spcPts val="800"/>
              </a:spcBef>
              <a:defRPr sz="1600">
                <a:solidFill>
                  <a:srgbClr val="00E5FF"/>
                </a:solidFill>
              </a:defRPr>
            </a:pPr>
            <a:r>
              <a:t>Lossless Ingestion • Offline Vector Matcher • OCSF 1.9 • Cryptographic Tamper-Evidence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731520" y="2834640"/>
            <a:ext cx="10728655" cy="777240"/>
          </a:xfrm>
          <a:prstGeom prst="roundRect">
            <a:avLst/>
          </a:prstGeom>
          <a:solidFill>
            <a:srgbClr val="131E3D"/>
          </a:solidFill>
          <a:ln w="19050">
            <a:solidFill>
              <a:srgbClr val="2979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500" b="1">
                <a:solidFill>
                  <a:srgbClr val="FFB300"/>
                </a:solidFill>
              </a:defRPr>
            </a:pPr>
            <a:r>
              <a:t>CORE MANDATE: "Any Log In, OCSF 1.9 Out, Zero Bytes Dropped, Cryptographically Proved."</a:t>
            </a:r>
          </a:p>
          <a:p>
            <a:pPr algn="ctr">
              <a:defRPr sz="1100">
                <a:solidFill>
                  <a:srgbClr val="B0BED2"/>
                </a:solidFill>
              </a:defRPr>
            </a:pPr>
            <a:r>
              <a:t>Purpose-built for National Technical Research Organisation (NTRO) high-throughput, air-gapped sovereign cybersecurity operations.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731520" y="3840480"/>
            <a:ext cx="2542032" cy="2377440"/>
          </a:xfrm>
          <a:prstGeom prst="roundRect">
            <a:avLst/>
          </a:prstGeom>
          <a:solidFill>
            <a:srgbClr val="131E3D"/>
          </a:solidFill>
          <a:ln w="12700">
            <a:solidFill>
              <a:srgbClr val="1F316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tIns="182880" lIns="182880" rIns="182880"/>
          <a:lstStyle/>
          <a:p>
            <a:pPr algn="ctr">
              <a:defRPr sz="1050" b="1">
                <a:solidFill>
                  <a:srgbClr val="00E5FF"/>
                </a:solidFill>
              </a:defRPr>
            </a:pPr>
            <a:r>
              <a:t>PROBLEM STATEMENT</a:t>
            </a:r>
          </a:p>
          <a:p>
            <a:pPr>
              <a:spcBef>
                <a:spcPts val="800"/>
              </a:spcBef>
              <a:defRPr sz="1600" b="1">
                <a:solidFill>
                  <a:srgbClr val="FFFFFF"/>
                </a:solidFill>
              </a:defRPr>
            </a:pPr>
            <a:r>
              <a:t>SIH 26156</a:t>
            </a:r>
          </a:p>
          <a:p>
            <a:pPr>
              <a:spcBef>
                <a:spcPts val="800"/>
              </a:spcBef>
              <a:defRPr sz="1100">
                <a:solidFill>
                  <a:srgbClr val="B0BED2"/>
                </a:solidFill>
              </a:defRPr>
            </a:pPr>
            <a:r>
              <a:t>Universal Log Pre-processing Framework (Software)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3456432" y="3840480"/>
            <a:ext cx="2542032" cy="2377440"/>
          </a:xfrm>
          <a:prstGeom prst="roundRect">
            <a:avLst/>
          </a:prstGeom>
          <a:solidFill>
            <a:srgbClr val="131E3D"/>
          </a:solidFill>
          <a:ln w="12700">
            <a:solidFill>
              <a:srgbClr val="1F316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tIns="182880" lIns="182880" rIns="182880"/>
          <a:lstStyle/>
          <a:p>
            <a:pPr algn="ctr">
              <a:defRPr sz="1050" b="1">
                <a:solidFill>
                  <a:srgbClr val="00E676"/>
                </a:solidFill>
              </a:defRPr>
            </a:pPr>
            <a:r>
              <a:t>ORGANIZATION</a:t>
            </a:r>
          </a:p>
          <a:p>
            <a:pPr>
              <a:spcBef>
                <a:spcPts val="800"/>
              </a:spcBef>
              <a:defRPr sz="1600" b="1">
                <a:solidFill>
                  <a:srgbClr val="FFFFFF"/>
                </a:solidFill>
              </a:defRPr>
            </a:pPr>
            <a:r>
              <a:t>NTRO</a:t>
            </a:r>
          </a:p>
          <a:p>
            <a:pPr>
              <a:spcBef>
                <a:spcPts val="800"/>
              </a:spcBef>
              <a:defRPr sz="1100">
                <a:solidFill>
                  <a:srgbClr val="B0BED2"/>
                </a:solidFill>
              </a:defRPr>
            </a:pPr>
            <a:r>
              <a:t>National Technical Research Organisation (Cybersecurity)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6181344" y="3840480"/>
            <a:ext cx="2542032" cy="2377440"/>
          </a:xfrm>
          <a:prstGeom prst="roundRect">
            <a:avLst/>
          </a:prstGeom>
          <a:solidFill>
            <a:srgbClr val="131E3D"/>
          </a:solidFill>
          <a:ln w="12700">
            <a:solidFill>
              <a:srgbClr val="1F316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tIns="182880" lIns="182880" rIns="182880"/>
          <a:lstStyle/>
          <a:p>
            <a:pPr algn="ctr">
              <a:defRPr sz="1050" b="1">
                <a:solidFill>
                  <a:srgbClr val="FFB300"/>
                </a:solidFill>
              </a:defRPr>
            </a:pPr>
            <a:r>
              <a:t>TEAM CREDENTIALS</a:t>
            </a:r>
          </a:p>
          <a:p>
            <a:pPr>
              <a:spcBef>
                <a:spcPts val="800"/>
              </a:spcBef>
              <a:defRPr sz="1600" b="1">
                <a:solidFill>
                  <a:srgbClr val="FFFFFF"/>
                </a:solidFill>
              </a:defRPr>
            </a:pPr>
            <a:r>
              <a:t>Team LunarX</a:t>
            </a:r>
          </a:p>
          <a:p>
            <a:pPr>
              <a:spcBef>
                <a:spcPts val="800"/>
              </a:spcBef>
              <a:defRPr sz="1100">
                <a:solidFill>
                  <a:srgbClr val="B0BED2"/>
                </a:solidFill>
              </a:defRPr>
            </a:pPr>
            <a:r>
              <a:t>Shortlisted in internal round with ISRO (SIH26166)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8906256" y="3840480"/>
            <a:ext cx="2542032" cy="2377440"/>
          </a:xfrm>
          <a:prstGeom prst="roundRect">
            <a:avLst/>
          </a:prstGeom>
          <a:solidFill>
            <a:srgbClr val="131E3D"/>
          </a:solidFill>
          <a:ln w="12700">
            <a:solidFill>
              <a:srgbClr val="1F316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tIns="182880" lIns="182880" rIns="182880"/>
          <a:lstStyle/>
          <a:p>
            <a:pPr algn="ctr">
              <a:defRPr sz="1050" b="1">
                <a:solidFill>
                  <a:srgbClr val="2979FF"/>
                </a:solidFill>
              </a:defRPr>
            </a:pPr>
            <a:r>
              <a:t>KEY DELIVERABLES</a:t>
            </a:r>
          </a:p>
          <a:p>
            <a:pPr>
              <a:spcBef>
                <a:spcPts val="800"/>
              </a:spcBef>
              <a:defRPr sz="1600" b="1">
                <a:solidFill>
                  <a:srgbClr val="FFFFFF"/>
                </a:solidFill>
              </a:defRPr>
            </a:pPr>
            <a:r>
              <a:t>Production Ready</a:t>
            </a:r>
          </a:p>
          <a:p>
            <a:pPr>
              <a:spcBef>
                <a:spcPts val="800"/>
              </a:spcBef>
              <a:defRPr sz="1100">
                <a:solidFill>
                  <a:srgbClr val="B0BED2"/>
                </a:solidFill>
              </a:defRPr>
            </a:pPr>
            <a:r>
              <a:t>100% Offline Air-gap • Docker • Python SDK ulpf-py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A112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365760"/>
            <a:ext cx="10698480" cy="3200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defRPr sz="1100" b="1">
                <a:solidFill>
                  <a:srgbClr val="00E5FF"/>
                </a:solidFill>
              </a:defRPr>
            </a:pPr>
            <a:r>
              <a:t>SIH26156 | NTRO | THEME: BLOCKCHAIN &amp; CYBERSECURITY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685800"/>
            <a:ext cx="10698480" cy="5029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defRPr sz="2200" b="1">
                <a:solidFill>
                  <a:srgbClr val="FFFFFF"/>
                </a:solidFill>
              </a:defRPr>
            </a:pPr>
            <a:r>
              <a:t>Problems Identified &amp; How ULPF Solved Them</a:t>
            </a:r>
          </a:p>
        </p:txBody>
      </p:sp>
      <p:sp>
        <p:nvSpPr>
          <p:cNvPr id="5" name="Rectangle 4"/>
          <p:cNvSpPr/>
          <p:nvPr/>
        </p:nvSpPr>
        <p:spPr>
          <a:xfrm>
            <a:off x="731520" y="1234440"/>
            <a:ext cx="10728655" cy="18288"/>
          </a:xfrm>
          <a:prstGeom prst="rect">
            <a:avLst/>
          </a:prstGeom>
          <a:solidFill>
            <a:srgbClr val="1F316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731520" y="1417320"/>
            <a:ext cx="10728655" cy="347472"/>
          </a:xfrm>
          <a:prstGeom prst="rect">
            <a:avLst/>
          </a:prstGeom>
          <a:solidFill>
            <a:srgbClr val="102A5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100" b="1">
                <a:solidFill>
                  <a:srgbClr val="00E5FF"/>
                </a:solidFill>
              </a:defRPr>
            </a:pPr>
            <a:r>
              <a:t>    INDUSTRY CHALLENGE / NTRO PAIN POINT                                        HOW ULPF SOLVED IT (OUR DIRECT INNOVATION)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731520" y="1801368"/>
            <a:ext cx="5257800" cy="932688"/>
          </a:xfrm>
          <a:prstGeom prst="roundRect">
            <a:avLst/>
          </a:prstGeom>
          <a:solidFill>
            <a:srgbClr val="131E3D"/>
          </a:solidFill>
          <a:ln w="12700">
            <a:solidFill>
              <a:srgbClr val="50141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tIns="91440" lIns="137160" rIns="137160"/>
          <a:lstStyle/>
          <a:p>
            <a:pPr algn="ctr">
              <a:defRPr sz="1150" b="1">
                <a:solidFill>
                  <a:srgbClr val="FF6E6E"/>
                </a:solidFill>
              </a:defRPr>
            </a:pPr>
            <a:r>
              <a:t>1. Format Chaos &amp; Bespoke Parsers</a:t>
            </a:r>
          </a:p>
          <a:p>
            <a:pPr>
              <a:spcBef>
                <a:spcPts val="300"/>
              </a:spcBef>
              <a:defRPr sz="1000">
                <a:solidFill>
                  <a:srgbClr val="B0BED2"/>
                </a:solidFill>
              </a:defRPr>
            </a:pPr>
            <a:r>
              <a:t>Dozens of formats (Syslog 3164/5424, CEF, LEEF, JSON, XML, CSV). Writing bespoke regex parsers for each device requires weeks of dev effort.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6202375" y="1801368"/>
            <a:ext cx="5257800" cy="932688"/>
          </a:xfrm>
          <a:prstGeom prst="roundRect">
            <a:avLst/>
          </a:prstGeom>
          <a:solidFill>
            <a:srgbClr val="131E3D"/>
          </a:solidFill>
          <a:ln w="12700">
            <a:solidFill>
              <a:srgbClr val="008C6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tIns="91440" lIns="137160" rIns="137160"/>
          <a:lstStyle/>
          <a:p>
            <a:pPr algn="ctr">
              <a:defRPr sz="1150" b="1">
                <a:solidFill>
                  <a:srgbClr val="00E676"/>
                </a:solidFill>
              </a:defRPr>
            </a:pPr>
            <a:r>
              <a:t>Unified 10-Decoder Engine + YAML Source Packs</a:t>
            </a:r>
          </a:p>
          <a:p>
            <a:pPr>
              <a:spcBef>
                <a:spcPts val="300"/>
              </a:spcBef>
              <a:defRPr sz="1000">
                <a:solidFill>
                  <a:srgbClr val="B0BED2"/>
                </a:solidFill>
              </a:defRPr>
            </a:pPr>
            <a:r>
              <a:t>Declarative YAML packs hot-reload in 400ms without server reboots. Drops parser turnaround time from 2 weeks to under 5 minutes.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731520" y="2807208"/>
            <a:ext cx="5257800" cy="932688"/>
          </a:xfrm>
          <a:prstGeom prst="roundRect">
            <a:avLst/>
          </a:prstGeom>
          <a:solidFill>
            <a:srgbClr val="131E3D"/>
          </a:solidFill>
          <a:ln w="12700">
            <a:solidFill>
              <a:srgbClr val="50141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tIns="91440" lIns="137160" rIns="137160"/>
          <a:lstStyle/>
          <a:p>
            <a:pPr algn="ctr">
              <a:defRPr sz="1150" b="1">
                <a:solidFill>
                  <a:srgbClr val="FF6E6E"/>
                </a:solidFill>
              </a:defRPr>
            </a:pPr>
            <a:r>
              <a:t>2. Evidence Loss &amp; Forensic Inadmissibility</a:t>
            </a:r>
          </a:p>
          <a:p>
            <a:pPr>
              <a:spcBef>
                <a:spcPts val="300"/>
              </a:spcBef>
              <a:defRPr sz="1000">
                <a:solidFill>
                  <a:srgbClr val="B0BED2"/>
                </a:solidFill>
              </a:defRPr>
            </a:pPr>
            <a:r>
              <a:t>Standard SIEM parsers mutate, truncate, or drop raw bytes. Breaks evidentiary chain of custody in court and intelligence forensics.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6202375" y="2807208"/>
            <a:ext cx="5257800" cy="932688"/>
          </a:xfrm>
          <a:prstGeom prst="roundRect">
            <a:avLst/>
          </a:prstGeom>
          <a:solidFill>
            <a:srgbClr val="131E3D"/>
          </a:solidFill>
          <a:ln w="12700">
            <a:solidFill>
              <a:srgbClr val="008C6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tIns="91440" lIns="137160" rIns="137160"/>
          <a:lstStyle/>
          <a:p>
            <a:pPr algn="ctr">
              <a:defRPr sz="1150" b="1">
                <a:solidFill>
                  <a:srgbClr val="00E676"/>
                </a:solidFill>
              </a:defRPr>
            </a:pPr>
            <a:r>
              <a:t>Write-Before-Parse Vault (Zero Byte Loss)</a:t>
            </a:r>
          </a:p>
          <a:p>
            <a:pPr>
              <a:spcBef>
                <a:spcPts val="300"/>
              </a:spcBef>
              <a:defRPr sz="1000">
                <a:solidFill>
                  <a:srgbClr val="B0BED2"/>
                </a:solidFill>
              </a:defRPr>
            </a:pPr>
            <a:r>
              <a:t>Raw logs written to compressed append-only zstd blocks + CRC-32 before parsing. Deterministic 'ulpf:raw:&lt;seg&gt;:&lt;off&gt;:&lt;len&gt;' locator enables exact byte retrieval.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731520" y="3813048"/>
            <a:ext cx="5257800" cy="932688"/>
          </a:xfrm>
          <a:prstGeom prst="roundRect">
            <a:avLst/>
          </a:prstGeom>
          <a:solidFill>
            <a:srgbClr val="131E3D"/>
          </a:solidFill>
          <a:ln w="12700">
            <a:solidFill>
              <a:srgbClr val="50141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tIns="91440" lIns="137160" rIns="137160"/>
          <a:lstStyle/>
          <a:p>
            <a:pPr algn="ctr">
              <a:defRPr sz="1150" b="1">
                <a:solidFill>
                  <a:srgbClr val="FF6E6E"/>
                </a:solidFill>
              </a:defRPr>
            </a:pPr>
            <a:r>
              <a:t>3. Insider Log Tampering / Manipulation</a:t>
            </a:r>
          </a:p>
          <a:p>
            <a:pPr>
              <a:spcBef>
                <a:spcPts val="300"/>
              </a:spcBef>
              <a:defRPr sz="1000">
                <a:solidFill>
                  <a:srgbClr val="B0BED2"/>
                </a:solidFill>
              </a:defRPr>
            </a:pPr>
            <a:r>
              <a:t>Malicious actors or compromised DBAs can alter SQL log tables to hide breaches and lateral movement with zero audit trace.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6202375" y="3813048"/>
            <a:ext cx="5257800" cy="932688"/>
          </a:xfrm>
          <a:prstGeom prst="roundRect">
            <a:avLst/>
          </a:prstGeom>
          <a:solidFill>
            <a:srgbClr val="131E3D"/>
          </a:solidFill>
          <a:ln w="12700">
            <a:solidFill>
              <a:srgbClr val="008C6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tIns="91440" lIns="137160" rIns="137160"/>
          <a:lstStyle/>
          <a:p>
            <a:pPr algn="ctr">
              <a:defRPr sz="1150" b="1">
                <a:solidFill>
                  <a:srgbClr val="00E676"/>
                </a:solidFill>
              </a:defRPr>
            </a:pPr>
            <a:r>
              <a:t>RFC 8785 JCS + BLAKE3 Cryptographic Hash Chain</a:t>
            </a:r>
          </a:p>
          <a:p>
            <a:pPr>
              <a:spcBef>
                <a:spcPts val="300"/>
              </a:spcBef>
              <a:defRPr sz="1000">
                <a:solidFill>
                  <a:srgbClr val="B0BED2"/>
                </a:solidFill>
              </a:defRPr>
            </a:pPr>
            <a:r>
              <a:t>Strict JSON Canonicalization + continuous hash chain (Event N binds to Hash N-1). Any single altered field breaks the chain instantly at exact sequence.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731520" y="4818888"/>
            <a:ext cx="5257800" cy="932688"/>
          </a:xfrm>
          <a:prstGeom prst="roundRect">
            <a:avLst/>
          </a:prstGeom>
          <a:solidFill>
            <a:srgbClr val="131E3D"/>
          </a:solidFill>
          <a:ln w="12700">
            <a:solidFill>
              <a:srgbClr val="50141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tIns="91440" lIns="137160" rIns="137160"/>
          <a:lstStyle/>
          <a:p>
            <a:pPr algn="ctr">
              <a:defRPr sz="1150" b="1">
                <a:solidFill>
                  <a:srgbClr val="FF6E6E"/>
                </a:solidFill>
              </a:defRPr>
            </a:pPr>
            <a:r>
              <a:t>4. Air-Gapped Network Constraints</a:t>
            </a:r>
          </a:p>
          <a:p>
            <a:pPr>
              <a:spcBef>
                <a:spcPts val="300"/>
              </a:spcBef>
              <a:defRPr sz="1000">
                <a:solidFill>
                  <a:srgbClr val="B0BED2"/>
                </a:solidFill>
              </a:defRPr>
            </a:pPr>
            <a:r>
              <a:t>Defense &amp; NTRO environments cannot connect to cloud LLMs (OpenAI/Anthropic) to generate parsers due to air-gap leaks &amp; socket isolation.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6202375" y="4818888"/>
            <a:ext cx="5257800" cy="932688"/>
          </a:xfrm>
          <a:prstGeom prst="roundRect">
            <a:avLst/>
          </a:prstGeom>
          <a:solidFill>
            <a:srgbClr val="131E3D"/>
          </a:solidFill>
          <a:ln w="12700">
            <a:solidFill>
              <a:srgbClr val="008C6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tIns="91440" lIns="137160" rIns="137160"/>
          <a:lstStyle/>
          <a:p>
            <a:pPr algn="ctr">
              <a:defRPr sz="1150" b="1">
                <a:solidFill>
                  <a:srgbClr val="00E676"/>
                </a:solidFill>
              </a:defRPr>
            </a:pPr>
            <a:r>
              <a:t>Telemetry Vector Matcher (100% Offline)</a:t>
            </a:r>
          </a:p>
          <a:p>
            <a:pPr>
              <a:spcBef>
                <a:spcPts val="300"/>
              </a:spcBef>
              <a:defRPr sz="1000">
                <a:solidFill>
                  <a:srgbClr val="B0BED2"/>
                </a:solidFill>
              </a:defRPr>
            </a:pPr>
            <a:r>
              <a:t>Offline 384-dimensional semantic projection against canonical OCSF 1.9 schema. Zero cloud APIs, zero code-gen bugs, verified zero socket leak.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731520" y="5824728"/>
            <a:ext cx="5257800" cy="932688"/>
          </a:xfrm>
          <a:prstGeom prst="roundRect">
            <a:avLst/>
          </a:prstGeom>
          <a:solidFill>
            <a:srgbClr val="131E3D"/>
          </a:solidFill>
          <a:ln w="12700">
            <a:solidFill>
              <a:srgbClr val="50141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tIns="91440" lIns="137160" rIns="137160"/>
          <a:lstStyle/>
          <a:p>
            <a:pPr algn="ctr">
              <a:defRPr sz="1150" b="1">
                <a:solidFill>
                  <a:srgbClr val="FF6E6E"/>
                </a:solidFill>
              </a:defRPr>
            </a:pPr>
            <a:r>
              <a:t>5. Petabyte Storage &amp; Slow Threat Hunting</a:t>
            </a:r>
          </a:p>
          <a:p>
            <a:pPr>
              <a:spcBef>
                <a:spcPts val="300"/>
              </a:spcBef>
              <a:defRPr sz="1000">
                <a:solidFill>
                  <a:srgbClr val="B0BED2"/>
                </a:solidFill>
              </a:defRPr>
            </a:pPr>
            <a:r>
              <a:t>Storing raw logs uncompressed explodes SIEM budgets; multi-table joins across proprietary schemas make alert correlation crawl.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6202375" y="5824728"/>
            <a:ext cx="5257800" cy="932688"/>
          </a:xfrm>
          <a:prstGeom prst="roundRect">
            <a:avLst/>
          </a:prstGeom>
          <a:solidFill>
            <a:srgbClr val="131E3D"/>
          </a:solidFill>
          <a:ln w="12700">
            <a:solidFill>
              <a:srgbClr val="008C6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tIns="91440" lIns="137160" rIns="137160"/>
          <a:lstStyle/>
          <a:p>
            <a:pPr algn="ctr">
              <a:defRPr sz="1150" b="1">
                <a:solidFill>
                  <a:srgbClr val="00E676"/>
                </a:solidFill>
              </a:defRPr>
            </a:pPr>
            <a:r>
              <a:t>DuckDB Analytical Lake + 550x Compression</a:t>
            </a:r>
          </a:p>
          <a:p>
            <a:pPr>
              <a:spcBef>
                <a:spcPts val="300"/>
              </a:spcBef>
              <a:defRPr sz="1000">
                <a:solidFill>
                  <a:srgbClr val="B0BED2"/>
                </a:solidFill>
              </a:defRPr>
            </a:pPr>
            <a:r>
              <a:t>Sub-70ms SQL queries with predicate pushdown; columnar Parquet date partitioning; ultra-compact zstd compression yielding 550x ratio.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A112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365760"/>
            <a:ext cx="10698480" cy="3200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defRPr sz="1100" b="1">
                <a:solidFill>
                  <a:srgbClr val="00E5FF"/>
                </a:solidFill>
              </a:defRPr>
            </a:pPr>
            <a:r>
              <a:t>SIH26156 | NTRO | THEME: BLOCKCHAIN &amp; CYBERSECURITY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685800"/>
            <a:ext cx="10698480" cy="5029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defRPr sz="2200" b="1">
                <a:solidFill>
                  <a:srgbClr val="FFFFFF"/>
                </a:solidFill>
              </a:defRPr>
            </a:pPr>
            <a:r>
              <a:t>Technical Architecture &amp; 7-Stage Processing Pipeline</a:t>
            </a:r>
          </a:p>
        </p:txBody>
      </p:sp>
      <p:sp>
        <p:nvSpPr>
          <p:cNvPr id="5" name="Rectangle 4"/>
          <p:cNvSpPr/>
          <p:nvPr/>
        </p:nvSpPr>
        <p:spPr>
          <a:xfrm>
            <a:off x="731520" y="1234440"/>
            <a:ext cx="10728655" cy="18288"/>
          </a:xfrm>
          <a:prstGeom prst="rect">
            <a:avLst/>
          </a:prstGeom>
          <a:solidFill>
            <a:srgbClr val="1F316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ounded Rectangle 5"/>
          <p:cNvSpPr/>
          <p:nvPr/>
        </p:nvSpPr>
        <p:spPr>
          <a:xfrm>
            <a:off x="731520" y="1371600"/>
            <a:ext cx="10728655" cy="731520"/>
          </a:xfrm>
          <a:prstGeom prst="roundRect">
            <a:avLst/>
          </a:prstGeom>
          <a:solidFill>
            <a:srgbClr val="131E3D"/>
          </a:solidFill>
          <a:ln w="12700">
            <a:solidFill>
              <a:srgbClr val="2979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200" b="1">
                <a:solidFill>
                  <a:srgbClr val="00E5FF"/>
                </a:solidFill>
              </a:defRPr>
            </a:pPr>
            <a:r>
              <a:t>TIER 1: Vault-First Lossless Capture   ➔   TIER 2: Dual Parser (Decoders + Vector Matcher)   ➔   TIER 3: Cryptographic Attestation &amp; Lake</a:t>
            </a:r>
          </a:p>
          <a:p>
            <a:pPr algn="ctr">
              <a:defRPr sz="1050">
                <a:solidFill>
                  <a:srgbClr val="B0BED2"/>
                </a:solidFill>
              </a:defRPr>
            </a:pPr>
            <a:r>
              <a:t>Write-Before-Parse guarantees raw fidelity before any parsing logic executes. OCSF 1.9 standardizes all attributes universally.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731520" y="2240280"/>
            <a:ext cx="3429000" cy="2057400"/>
          </a:xfrm>
          <a:prstGeom prst="roundRect">
            <a:avLst/>
          </a:prstGeom>
          <a:solidFill>
            <a:srgbClr val="131E3D"/>
          </a:solidFill>
          <a:ln w="12700">
            <a:solidFill>
              <a:srgbClr val="1F316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tIns="109728" lIns="137160" rIns="137160"/>
          <a:lstStyle/>
          <a:p>
            <a:pPr algn="ctr">
              <a:defRPr sz="1100" b="1">
                <a:solidFill>
                  <a:srgbClr val="2979FF"/>
                </a:solidFill>
              </a:defRPr>
            </a:pPr>
            <a:r>
              <a:t>STAGE 1: INGESTION &amp; VAULT</a:t>
            </a:r>
          </a:p>
          <a:p>
            <a:pPr>
              <a:spcBef>
                <a:spcPts val="200"/>
              </a:spcBef>
              <a:defRPr sz="950" b="1">
                <a:solidFill>
                  <a:srgbClr val="FFFFFF"/>
                </a:solidFill>
              </a:defRPr>
            </a:pPr>
            <a:r>
              <a:t>Write-Before-Parse Engine</a:t>
            </a:r>
          </a:p>
          <a:p>
            <a:pPr>
              <a:spcBef>
                <a:spcPts val="200"/>
              </a:spcBef>
              <a:defRPr sz="900">
                <a:solidFill>
                  <a:srgbClr val="B0BED2"/>
                </a:solidFill>
              </a:defRPr>
            </a:pPr>
            <a:r>
              <a:t>• Syslog (UDP/TCP 5140), HTTP POST /ingest, File Tailers</a:t>
            </a:r>
          </a:p>
          <a:p>
            <a:pPr>
              <a:spcBef>
                <a:spcPts val="200"/>
              </a:spcBef>
              <a:defRPr sz="900">
                <a:solidFill>
                  <a:srgbClr val="B0BED2"/>
                </a:solidFill>
              </a:defRPr>
            </a:pPr>
            <a:r>
              <a:t>• Append-only zstd ~1MiB blocks with 32-byte binary header</a:t>
            </a:r>
          </a:p>
          <a:p>
            <a:pPr>
              <a:spcBef>
                <a:spcPts val="200"/>
              </a:spcBef>
              <a:defRPr sz="900">
                <a:solidFill>
                  <a:srgbClr val="B0BED2"/>
                </a:solidFill>
              </a:defRPr>
            </a:pPr>
            <a:r>
              <a:t>• CRC-32 checksum per block; assigns RawRef locator</a:t>
            </a:r>
          </a:p>
          <a:p>
            <a:pPr>
              <a:spcBef>
                <a:spcPts val="200"/>
              </a:spcBef>
              <a:defRPr sz="900">
                <a:solidFill>
                  <a:srgbClr val="B0BED2"/>
                </a:solidFill>
              </a:defRPr>
            </a:pPr>
            <a:r>
              <a:t>• Crash-resilient: Reconstructs index directly from headers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4379976" y="2240280"/>
            <a:ext cx="3429000" cy="2057400"/>
          </a:xfrm>
          <a:prstGeom prst="roundRect">
            <a:avLst/>
          </a:prstGeom>
          <a:solidFill>
            <a:srgbClr val="131E3D"/>
          </a:solidFill>
          <a:ln w="12700">
            <a:solidFill>
              <a:srgbClr val="1F316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tIns="109728" lIns="137160" rIns="137160"/>
          <a:lstStyle/>
          <a:p>
            <a:pPr algn="ctr">
              <a:defRPr sz="1100" b="1">
                <a:solidFill>
                  <a:srgbClr val="00E5FF"/>
                </a:solidFill>
              </a:defRPr>
            </a:pPr>
            <a:r>
              <a:t>STAGE 2: SOURCE PACK DETECTOR</a:t>
            </a:r>
          </a:p>
          <a:p>
            <a:pPr>
              <a:spcBef>
                <a:spcPts val="200"/>
              </a:spcBef>
              <a:defRPr sz="950" b="1">
                <a:solidFill>
                  <a:srgbClr val="FFFFFF"/>
                </a:solidFill>
              </a:defRPr>
            </a:pPr>
            <a:r>
              <a:t>Hot-Path Declarative Routing</a:t>
            </a:r>
          </a:p>
          <a:p>
            <a:pPr>
              <a:spcBef>
                <a:spcPts val="200"/>
              </a:spcBef>
              <a:defRPr sz="900">
                <a:solidFill>
                  <a:srgbClr val="B0BED2"/>
                </a:solidFill>
              </a:defRPr>
            </a:pPr>
            <a:r>
              <a:t>• Compiled in-memory regex matchers for known vendors</a:t>
            </a:r>
          </a:p>
          <a:p>
            <a:pPr>
              <a:spcBef>
                <a:spcPts val="200"/>
              </a:spcBef>
              <a:defRPr sz="900">
                <a:solidFill>
                  <a:srgbClr val="B0BED2"/>
                </a:solidFill>
              </a:defRPr>
            </a:pPr>
            <a:r>
              <a:t>• 400ms burst-coalescing hot-reload (drop YAML, active)</a:t>
            </a:r>
          </a:p>
          <a:p>
            <a:pPr>
              <a:spcBef>
                <a:spcPts val="200"/>
              </a:spcBef>
              <a:defRPr sz="900">
                <a:solidFill>
                  <a:srgbClr val="B0BED2"/>
                </a:solidFill>
              </a:defRPr>
            </a:pPr>
            <a:r>
              <a:t>• Zero server restart; zero latency overhead on hot-path</a:t>
            </a:r>
          </a:p>
          <a:p>
            <a:pPr>
              <a:spcBef>
                <a:spcPts val="200"/>
              </a:spcBef>
              <a:defRPr sz="900">
                <a:solidFill>
                  <a:srgbClr val="B0BED2"/>
                </a:solidFill>
              </a:defRPr>
            </a:pPr>
            <a:r>
              <a:t>• Unmatched logs route immediately to Salvage &amp; Drain3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8028432" y="2240280"/>
            <a:ext cx="3429000" cy="2057400"/>
          </a:xfrm>
          <a:prstGeom prst="roundRect">
            <a:avLst/>
          </a:prstGeom>
          <a:solidFill>
            <a:srgbClr val="131E3D"/>
          </a:solidFill>
          <a:ln w="12700">
            <a:solidFill>
              <a:srgbClr val="1F316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tIns="109728" lIns="137160" rIns="137160"/>
          <a:lstStyle/>
          <a:p>
            <a:pPr algn="ctr">
              <a:defRPr sz="1100" b="1">
                <a:solidFill>
                  <a:srgbClr val="FFB300"/>
                </a:solidFill>
              </a:defRPr>
            </a:pPr>
            <a:r>
              <a:t>STAGE 3: SALVAGE + DRAIN3</a:t>
            </a:r>
          </a:p>
          <a:p>
            <a:pPr>
              <a:spcBef>
                <a:spcPts val="200"/>
              </a:spcBef>
              <a:defRPr sz="950" b="1">
                <a:solidFill>
                  <a:srgbClr val="FFFFFF"/>
                </a:solidFill>
              </a:defRPr>
            </a:pPr>
            <a:r>
              <a:t>Unmatched Stream Clustering</a:t>
            </a:r>
          </a:p>
          <a:p>
            <a:pPr>
              <a:spcBef>
                <a:spcPts val="200"/>
              </a:spcBef>
              <a:defRPr sz="900">
                <a:solidFill>
                  <a:srgbClr val="B0BED2"/>
                </a:solidFill>
              </a:defRPr>
            </a:pPr>
            <a:r>
              <a:t>• Drain3 fixed-depth parse tree clusters unknown logs</a:t>
            </a:r>
          </a:p>
          <a:p>
            <a:pPr>
              <a:spcBef>
                <a:spcPts val="200"/>
              </a:spcBef>
              <a:defRPr sz="900">
                <a:solidFill>
                  <a:srgbClr val="B0BED2"/>
                </a:solidFill>
              </a:defRPr>
            </a:pPr>
            <a:r>
              <a:t>• Computes token specificity (distinguishes variables)</a:t>
            </a:r>
          </a:p>
          <a:p>
            <a:pPr>
              <a:spcBef>
                <a:spcPts val="200"/>
              </a:spcBef>
              <a:defRPr sz="900">
                <a:solidFill>
                  <a:srgbClr val="B0BED2"/>
                </a:solidFill>
              </a:defRPr>
            </a:pPr>
            <a:r>
              <a:t>• Salvage regex extracts universal IPs, Ports, URLs, Hashes</a:t>
            </a:r>
          </a:p>
          <a:p>
            <a:pPr>
              <a:spcBef>
                <a:spcPts val="200"/>
              </a:spcBef>
              <a:defRPr sz="900">
                <a:solidFill>
                  <a:srgbClr val="B0BED2"/>
                </a:solidFill>
              </a:defRPr>
            </a:pPr>
            <a:r>
              <a:t>• Never makes false role assumptions; guarantees safety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731520" y="4416552"/>
            <a:ext cx="3429000" cy="2057400"/>
          </a:xfrm>
          <a:prstGeom prst="roundRect">
            <a:avLst/>
          </a:prstGeom>
          <a:solidFill>
            <a:srgbClr val="131E3D"/>
          </a:solidFill>
          <a:ln w="12700">
            <a:solidFill>
              <a:srgbClr val="1F316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tIns="109728" lIns="137160" rIns="137160"/>
          <a:lstStyle/>
          <a:p>
            <a:pPr algn="ctr">
              <a:defRPr sz="1100" b="1">
                <a:solidFill>
                  <a:srgbClr val="00E676"/>
                </a:solidFill>
              </a:defRPr>
            </a:pPr>
            <a:r>
              <a:t>STAGE 4: VECTOR MATCHER</a:t>
            </a:r>
          </a:p>
          <a:p>
            <a:pPr>
              <a:spcBef>
                <a:spcPts val="200"/>
              </a:spcBef>
              <a:defRPr sz="950" b="1">
                <a:solidFill>
                  <a:srgbClr val="FFFFFF"/>
                </a:solidFill>
              </a:defRPr>
            </a:pPr>
            <a:r>
              <a:t>Telemetry-Aware Semantic Sim</a:t>
            </a:r>
          </a:p>
          <a:p>
            <a:pPr>
              <a:spcBef>
                <a:spcPts val="200"/>
              </a:spcBef>
              <a:defRPr sz="900">
                <a:solidFill>
                  <a:srgbClr val="B0BED2"/>
                </a:solidFill>
              </a:defRPr>
            </a:pPr>
            <a:r>
              <a:t>• Embeds: field key | sample values | inferred type</a:t>
            </a:r>
          </a:p>
          <a:p>
            <a:pPr>
              <a:spcBef>
                <a:spcPts val="200"/>
              </a:spcBef>
              <a:defRPr sz="900">
                <a:solidFill>
                  <a:srgbClr val="B0BED2"/>
                </a:solidFill>
              </a:defRPr>
            </a:pPr>
            <a:r>
              <a:t>• Offline 384-dim cosine similarity against OCSF 1.9</a:t>
            </a:r>
          </a:p>
          <a:p>
            <a:pPr>
              <a:spcBef>
                <a:spcPts val="200"/>
              </a:spcBef>
              <a:defRPr sz="900">
                <a:solidFill>
                  <a:srgbClr val="B0BED2"/>
                </a:solidFill>
              </a:defRPr>
            </a:pPr>
            <a:r>
              <a:t>• &gt;0.85 Auto-Map | 0.60-0.85 Human Review | &lt;0.60 Fallback</a:t>
            </a:r>
          </a:p>
          <a:p>
            <a:pPr>
              <a:spcBef>
                <a:spcPts val="200"/>
              </a:spcBef>
              <a:defRPr sz="900">
                <a:solidFill>
                  <a:srgbClr val="B0BED2"/>
                </a:solidFill>
              </a:defRPr>
            </a:pPr>
            <a:r>
              <a:t>• Zero LLM API calls, zero hallucinated code, air-gap safe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4379976" y="4416552"/>
            <a:ext cx="3429000" cy="2057400"/>
          </a:xfrm>
          <a:prstGeom prst="roundRect">
            <a:avLst/>
          </a:prstGeom>
          <a:solidFill>
            <a:srgbClr val="131E3D"/>
          </a:solidFill>
          <a:ln w="12700">
            <a:solidFill>
              <a:srgbClr val="1F316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tIns="109728" lIns="137160" rIns="137160"/>
          <a:lstStyle/>
          <a:p>
            <a:pPr algn="ctr">
              <a:defRPr sz="1100" b="1">
                <a:solidFill>
                  <a:srgbClr val="00E5FF"/>
                </a:solidFill>
              </a:defRPr>
            </a:pPr>
            <a:r>
              <a:t>STAGE 5: OCSF 1.9 &amp; LINEAGE</a:t>
            </a:r>
          </a:p>
          <a:p>
            <a:pPr>
              <a:spcBef>
                <a:spcPts val="200"/>
              </a:spcBef>
              <a:defRPr sz="950" b="1">
                <a:solidFill>
                  <a:srgbClr val="FFFFFF"/>
                </a:solidFill>
              </a:defRPr>
            </a:pPr>
            <a:r>
              <a:t>Canonical Standardization</a:t>
            </a:r>
          </a:p>
          <a:p>
            <a:pPr>
              <a:spcBef>
                <a:spcPts val="200"/>
              </a:spcBef>
              <a:defRPr sz="900">
                <a:solidFill>
                  <a:srgbClr val="B0BED2"/>
                </a:solidFill>
              </a:defRPr>
            </a:pPr>
            <a:r>
              <a:t>• Class 4001 (Network), 3001 (Auth), 2001 (Findings)</a:t>
            </a:r>
          </a:p>
          <a:p>
            <a:pPr>
              <a:spcBef>
                <a:spcPts val="200"/>
              </a:spcBef>
              <a:defRPr sz="900">
                <a:solidFill>
                  <a:srgbClr val="B0BED2"/>
                </a:solidFill>
              </a:defRPr>
            </a:pPr>
            <a:r>
              <a:t>• Strict type casting, enums (disposition, status, severity)</a:t>
            </a:r>
          </a:p>
          <a:p>
            <a:pPr>
              <a:spcBef>
                <a:spcPts val="200"/>
              </a:spcBef>
              <a:defRPr sz="900">
                <a:solidFill>
                  <a:srgbClr val="B0BED2"/>
                </a:solidFill>
              </a:defRPr>
            </a:pPr>
            <a:r>
              <a:t>• Full 7-stage lineage audit trail stored per event</a:t>
            </a:r>
          </a:p>
          <a:p>
            <a:pPr>
              <a:spcBef>
                <a:spcPts val="200"/>
              </a:spcBef>
              <a:defRPr sz="900">
                <a:solidFill>
                  <a:srgbClr val="B0BED2"/>
                </a:solidFill>
              </a:defRPr>
            </a:pPr>
            <a:r>
              <a:t>• Unmapped raw locator embedded for byte-exact linkage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8028432" y="4416552"/>
            <a:ext cx="3429000" cy="2057400"/>
          </a:xfrm>
          <a:prstGeom prst="roundRect">
            <a:avLst/>
          </a:prstGeom>
          <a:solidFill>
            <a:srgbClr val="131E3D"/>
          </a:solidFill>
          <a:ln w="12700">
            <a:solidFill>
              <a:srgbClr val="1F316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tIns="109728" lIns="137160" rIns="137160"/>
          <a:lstStyle/>
          <a:p>
            <a:pPr algn="ctr">
              <a:defRPr sz="1100" b="1">
                <a:solidFill>
                  <a:srgbClr val="2979FF"/>
                </a:solidFill>
              </a:defRPr>
            </a:pPr>
            <a:r>
              <a:t>STAGE 6: ATTESTATION &amp; SINKS</a:t>
            </a:r>
          </a:p>
          <a:p>
            <a:pPr>
              <a:spcBef>
                <a:spcPts val="200"/>
              </a:spcBef>
              <a:defRPr sz="950" b="1">
                <a:solidFill>
                  <a:srgbClr val="FFFFFF"/>
                </a:solidFill>
              </a:defRPr>
            </a:pPr>
            <a:r>
              <a:t>Blockchain Integrity &amp; Lake</a:t>
            </a:r>
          </a:p>
          <a:p>
            <a:pPr>
              <a:spcBef>
                <a:spcPts val="200"/>
              </a:spcBef>
              <a:defRPr sz="900">
                <a:solidFill>
                  <a:srgbClr val="B0BED2"/>
                </a:solidFill>
              </a:defRPr>
            </a:pPr>
            <a:r>
              <a:t>• RFC 8785 JCS canonical ordering + BLAKE3 hash chain</a:t>
            </a:r>
          </a:p>
          <a:p>
            <a:pPr>
              <a:spcBef>
                <a:spcPts val="200"/>
              </a:spcBef>
              <a:defRPr sz="900">
                <a:solidFill>
                  <a:srgbClr val="B0BED2"/>
                </a:solidFill>
              </a:defRPr>
            </a:pPr>
            <a:r>
              <a:t>• RFC 6962 Merkle tree inclusion proofs in ceil(log2 N)</a:t>
            </a:r>
          </a:p>
          <a:p>
            <a:pPr>
              <a:spcBef>
                <a:spcPts val="200"/>
              </a:spcBef>
              <a:defRPr sz="900">
                <a:solidFill>
                  <a:srgbClr val="B0BED2"/>
                </a:solidFill>
              </a:defRPr>
            </a:pPr>
            <a:r>
              <a:t>• Ed25519 digital signature checkpoints every 1,000 events</a:t>
            </a:r>
          </a:p>
          <a:p>
            <a:pPr>
              <a:spcBef>
                <a:spcPts val="200"/>
              </a:spcBef>
              <a:defRPr sz="900">
                <a:solidFill>
                  <a:srgbClr val="B0BED2"/>
                </a:solidFill>
              </a:defRPr>
            </a:pPr>
            <a:r>
              <a:t>• Dual Sinks: DuckDB analytical lake + Parquet + Wazuh SIEM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A112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365760"/>
            <a:ext cx="10698480" cy="3200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defRPr sz="1100" b="1">
                <a:solidFill>
                  <a:srgbClr val="00E5FF"/>
                </a:solidFill>
              </a:defRPr>
            </a:pPr>
            <a:r>
              <a:t>SIH26156 | NTRO | THEME: BLOCKCHAIN &amp; CYBERSECURITY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685800"/>
            <a:ext cx="10698480" cy="5029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defRPr sz="2200" b="1">
                <a:solidFill>
                  <a:srgbClr val="FFFFFF"/>
                </a:solidFill>
              </a:defRPr>
            </a:pPr>
            <a:r>
              <a:t>Core Novelties &amp; 2-Minute Live Demo Flow</a:t>
            </a:r>
          </a:p>
        </p:txBody>
      </p:sp>
      <p:sp>
        <p:nvSpPr>
          <p:cNvPr id="5" name="Rectangle 4"/>
          <p:cNvSpPr/>
          <p:nvPr/>
        </p:nvSpPr>
        <p:spPr>
          <a:xfrm>
            <a:off x="731520" y="1234440"/>
            <a:ext cx="10728655" cy="18288"/>
          </a:xfrm>
          <a:prstGeom prst="rect">
            <a:avLst/>
          </a:prstGeom>
          <a:solidFill>
            <a:srgbClr val="1F316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731520" y="1371600"/>
            <a:ext cx="5257800" cy="320040"/>
          </a:xfrm>
          <a:prstGeom prst="rect">
            <a:avLst/>
          </a:prstGeom>
          <a:solidFill>
            <a:srgbClr val="102A5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100" b="1">
                <a:solidFill>
                  <a:srgbClr val="00E5FF"/>
                </a:solidFill>
              </a:defRPr>
            </a:pPr>
            <a:r>
              <a:t>  UNMATCHED NOVELTIES OF TEAM LUNARX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731520" y="1783080"/>
            <a:ext cx="5257800" cy="1115568"/>
          </a:xfrm>
          <a:prstGeom prst="roundRect">
            <a:avLst/>
          </a:prstGeom>
          <a:solidFill>
            <a:srgbClr val="131E3D"/>
          </a:solidFill>
          <a:ln w="12700">
            <a:solidFill>
              <a:srgbClr val="1F316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tIns="91440" lIns="137160" rIns="137160"/>
          <a:lstStyle/>
          <a:p>
            <a:pPr algn="ctr">
              <a:defRPr sz="1100" b="1">
                <a:solidFill>
                  <a:srgbClr val="FFB300"/>
                </a:solidFill>
              </a:defRPr>
            </a:pPr>
            <a:r>
              <a:t>1. Write-Before-Parse Deterministic Vault</a:t>
            </a:r>
          </a:p>
          <a:p>
            <a:pPr>
              <a:spcBef>
                <a:spcPts val="300"/>
              </a:spcBef>
              <a:defRPr sz="950">
                <a:solidFill>
                  <a:srgbClr val="B0BED2"/>
                </a:solidFill>
              </a:defRPr>
            </a:pPr>
            <a:r>
              <a:t>Eliminates parse-loss. Raw bytes are committed to append-only zstd blocks + CRC-32 before parsing. Deterministic locator 'ulpf:raw:&lt;seg&gt;:&lt;off&gt;:&lt;len&gt;' allows 100% byte-exact forensic retrieval.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731520" y="2971800"/>
            <a:ext cx="5257800" cy="1115568"/>
          </a:xfrm>
          <a:prstGeom prst="roundRect">
            <a:avLst/>
          </a:prstGeom>
          <a:solidFill>
            <a:srgbClr val="131E3D"/>
          </a:solidFill>
          <a:ln w="12700">
            <a:solidFill>
              <a:srgbClr val="1F316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tIns="91440" lIns="137160" rIns="137160"/>
          <a:lstStyle/>
          <a:p>
            <a:pPr algn="ctr">
              <a:defRPr sz="1100" b="1">
                <a:solidFill>
                  <a:srgbClr val="FFB300"/>
                </a:solidFill>
              </a:defRPr>
            </a:pPr>
            <a:r>
              <a:t>2. Air-Gapped Telemetry Vector Matcher</a:t>
            </a:r>
          </a:p>
          <a:p>
            <a:pPr>
              <a:spcBef>
                <a:spcPts val="300"/>
              </a:spcBef>
              <a:defRPr sz="950">
                <a:solidFill>
                  <a:srgbClr val="B0BED2"/>
                </a:solidFill>
              </a:defRPr>
            </a:pPr>
            <a:r>
              <a:t>Offline 384-dim semantic matching (key + sample values + data type) mapped against OCSF 1.9. Achieves zero-code-generation safety with zero external socket leaks.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731520" y="4160520"/>
            <a:ext cx="5257800" cy="1115568"/>
          </a:xfrm>
          <a:prstGeom prst="roundRect">
            <a:avLst/>
          </a:prstGeom>
          <a:solidFill>
            <a:srgbClr val="131E3D"/>
          </a:solidFill>
          <a:ln w="12700">
            <a:solidFill>
              <a:srgbClr val="1F316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tIns="91440" lIns="137160" rIns="137160"/>
          <a:lstStyle/>
          <a:p>
            <a:pPr algn="ctr">
              <a:defRPr sz="1100" b="1">
                <a:solidFill>
                  <a:srgbClr val="FFB300"/>
                </a:solidFill>
              </a:defRPr>
            </a:pPr>
            <a:r>
              <a:t>3. RFC 8785 + RFC 6962 Cryptographic Attestation</a:t>
            </a:r>
          </a:p>
          <a:p>
            <a:pPr>
              <a:spcBef>
                <a:spcPts val="300"/>
              </a:spcBef>
              <a:defRPr sz="950">
                <a:solidFill>
                  <a:srgbClr val="B0BED2"/>
                </a:solidFill>
              </a:defRPr>
            </a:pPr>
            <a:r>
              <a:t>Continuous BLAKE3 hash chain ($H_N = Hash(E_N + H_{N-1})$) combined with Ed25519 checkpoint signatures and Merkle inclusion proofs in ceil(log2 N) hashes for cross-agency audit.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731520" y="5349240"/>
            <a:ext cx="5257800" cy="1115568"/>
          </a:xfrm>
          <a:prstGeom prst="roundRect">
            <a:avLst/>
          </a:prstGeom>
          <a:solidFill>
            <a:srgbClr val="131E3D"/>
          </a:solidFill>
          <a:ln w="12700">
            <a:solidFill>
              <a:srgbClr val="1F316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tIns="91440" lIns="137160" rIns="137160"/>
          <a:lstStyle/>
          <a:p>
            <a:pPr algn="ctr">
              <a:defRPr sz="1100" b="1">
                <a:solidFill>
                  <a:srgbClr val="FFB300"/>
                </a:solidFill>
              </a:defRPr>
            </a:pPr>
            <a:r>
              <a:t>4. Hot-Reloadable Declarative Source Packs</a:t>
            </a:r>
          </a:p>
          <a:p>
            <a:pPr>
              <a:spcBef>
                <a:spcPts val="300"/>
              </a:spcBef>
              <a:defRPr sz="950">
                <a:solidFill>
                  <a:srgbClr val="B0BED2"/>
                </a:solidFill>
              </a:defRPr>
            </a:pPr>
            <a:r>
              <a:t>400ms burst-coalesced hot-reload enables dropping new YAML definitions into production without interrupting live ingestion or restarting containers.</a:t>
            </a:r>
          </a:p>
        </p:txBody>
      </p:sp>
      <p:sp>
        <p:nvSpPr>
          <p:cNvPr id="11" name="Rectangle 10"/>
          <p:cNvSpPr/>
          <p:nvPr/>
        </p:nvSpPr>
        <p:spPr>
          <a:xfrm>
            <a:off x="6202375" y="1371600"/>
            <a:ext cx="5257800" cy="320040"/>
          </a:xfrm>
          <a:prstGeom prst="rect">
            <a:avLst/>
          </a:prstGeom>
          <a:solidFill>
            <a:srgbClr val="102A5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100" b="1">
                <a:solidFill>
                  <a:srgbClr val="00E676"/>
                </a:solidFill>
              </a:defRPr>
            </a:pPr>
            <a:r>
              <a:t>  LIVE DEMO CHOREOGRAPHY (2-MINUTE EVALUATION)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6202375" y="1783080"/>
            <a:ext cx="5257800" cy="1115568"/>
          </a:xfrm>
          <a:prstGeom prst="roundRect">
            <a:avLst/>
          </a:prstGeom>
          <a:solidFill>
            <a:srgbClr val="131E3D"/>
          </a:solidFill>
          <a:ln w="12700">
            <a:solidFill>
              <a:srgbClr val="1F316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tIns="91440" lIns="137160" rIns="137160"/>
          <a:lstStyle/>
          <a:p>
            <a:pPr algn="ctr">
              <a:defRPr sz="1100" b="1">
                <a:solidFill>
                  <a:srgbClr val="00E5FF"/>
                </a:solidFill>
              </a:defRPr>
            </a:pPr>
            <a:r>
              <a:t>00:00 - 00:30 | Multi-Format Ingestion &amp; Normalization</a:t>
            </a:r>
          </a:p>
          <a:p>
            <a:pPr>
              <a:spcBef>
                <a:spcPts val="300"/>
              </a:spcBef>
              <a:defRPr sz="950">
                <a:solidFill>
                  <a:srgbClr val="B0BED2"/>
                </a:solidFill>
              </a:defRPr>
            </a:pPr>
            <a:r>
              <a:t>Action: Stream multi-vendor logs (Linux SSH, Apache, Palo Alto, unknown raw stream).</a:t>
            </a:r>
            <a:br/>
            <a:r>
              <a:t>Live Screen: Dashboard reflects real-time ingestion, OCSF 1.9 normalization, and active pack claims.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6202375" y="2971800"/>
            <a:ext cx="5257800" cy="1115568"/>
          </a:xfrm>
          <a:prstGeom prst="roundRect">
            <a:avLst/>
          </a:prstGeom>
          <a:solidFill>
            <a:srgbClr val="131E3D"/>
          </a:solidFill>
          <a:ln w="12700">
            <a:solidFill>
              <a:srgbClr val="1F316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tIns="91440" lIns="137160" rIns="137160"/>
          <a:lstStyle/>
          <a:p>
            <a:pPr algn="ctr">
              <a:defRPr sz="1100" b="1">
                <a:solidFill>
                  <a:srgbClr val="00E5FF"/>
                </a:solidFill>
              </a:defRPr>
            </a:pPr>
            <a:r>
              <a:t>00:30 - 00:55 | Byte-Exact Forensic Retrieval Test</a:t>
            </a:r>
          </a:p>
          <a:p>
            <a:pPr>
              <a:spcBef>
                <a:spcPts val="300"/>
              </a:spcBef>
              <a:defRPr sz="950">
                <a:solidFill>
                  <a:srgbClr val="B0BED2"/>
                </a:solidFill>
              </a:defRPr>
            </a:pPr>
            <a:r>
              <a:t>Action: Ingest malformed raw event with weird spacing, then call /raw/{id}.</a:t>
            </a:r>
            <a:br/>
            <a:r>
              <a:t>Live Screen: Terminal / API returns exact raw bytes down to trailing characters via RawRef locator.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6202375" y="4160520"/>
            <a:ext cx="5257800" cy="1115568"/>
          </a:xfrm>
          <a:prstGeom prst="roundRect">
            <a:avLst/>
          </a:prstGeom>
          <a:solidFill>
            <a:srgbClr val="131E3D"/>
          </a:solidFill>
          <a:ln w="12700">
            <a:solidFill>
              <a:srgbClr val="1F316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tIns="91440" lIns="137160" rIns="137160"/>
          <a:lstStyle/>
          <a:p>
            <a:pPr algn="ctr">
              <a:defRPr sz="1100" b="1">
                <a:solidFill>
                  <a:srgbClr val="00E5FF"/>
                </a:solidFill>
              </a:defRPr>
            </a:pPr>
            <a:r>
              <a:t>00:55 - 01:30 | Live Adversary Tamper Attack &amp; Detection</a:t>
            </a:r>
          </a:p>
          <a:p>
            <a:pPr>
              <a:spcBef>
                <a:spcPts val="300"/>
              </a:spcBef>
              <a:defRPr sz="950">
                <a:solidFill>
                  <a:srgbClr val="B0BED2"/>
                </a:solidFill>
              </a:defRPr>
            </a:pPr>
            <a:r>
              <a:t>Action: Click 'Inject Tamper' on Web Console (changes src_ip in database at Seq 5).</a:t>
            </a:r>
            <a:br/>
            <a:r>
              <a:t>Live Screen: Instant verification alert! BLAKE3 hash chain fails immediately at exact Sequence #5.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6202375" y="5349240"/>
            <a:ext cx="5257800" cy="1115568"/>
          </a:xfrm>
          <a:prstGeom prst="roundRect">
            <a:avLst/>
          </a:prstGeom>
          <a:solidFill>
            <a:srgbClr val="131E3D"/>
          </a:solidFill>
          <a:ln w="12700">
            <a:solidFill>
              <a:srgbClr val="1F316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tIns="91440" lIns="137160" rIns="137160"/>
          <a:lstStyle/>
          <a:p>
            <a:pPr algn="ctr">
              <a:defRPr sz="1100" b="1">
                <a:solidFill>
                  <a:srgbClr val="00E5FF"/>
                </a:solidFill>
              </a:defRPr>
            </a:pPr>
            <a:r>
              <a:t>01:30 - 02:00 | Merkle Proof &amp; DuckDB Threat Hunting</a:t>
            </a:r>
          </a:p>
          <a:p>
            <a:pPr>
              <a:spcBef>
                <a:spcPts val="300"/>
              </a:spcBef>
              <a:defRPr sz="950">
                <a:solidFill>
                  <a:srgbClr val="B0BED2"/>
                </a:solidFill>
              </a:defRPr>
            </a:pPr>
            <a:r>
              <a:t>Action: Call /prove/5 (RFC 6962 proof) and run sub-70ms DuckDB SQL query.</a:t>
            </a:r>
            <a:br/>
            <a:r>
              <a:t>Live Screen: Shows 12-hash inclusion proof + instant analytical threat detection across 10,000+ logs.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A112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365760"/>
            <a:ext cx="10698480" cy="3200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defRPr sz="1100" b="1">
                <a:solidFill>
                  <a:srgbClr val="00E5FF"/>
                </a:solidFill>
              </a:defRPr>
            </a:pPr>
            <a:r>
              <a:t>SIH26156 | NTRO | THEME: BLOCKCHAIN &amp; CYBERSECURITY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685800"/>
            <a:ext cx="10698480" cy="5029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defRPr sz="2200" b="1">
                <a:solidFill>
                  <a:srgbClr val="FFFFFF"/>
                </a:solidFill>
              </a:defRPr>
            </a:pPr>
            <a:r>
              <a:t>Feasibility, National Security Impact &amp; Competitive Benchmarks</a:t>
            </a:r>
          </a:p>
        </p:txBody>
      </p:sp>
      <p:sp>
        <p:nvSpPr>
          <p:cNvPr id="5" name="Rectangle 4"/>
          <p:cNvSpPr/>
          <p:nvPr/>
        </p:nvSpPr>
        <p:spPr>
          <a:xfrm>
            <a:off x="731520" y="1234440"/>
            <a:ext cx="10728655" cy="18288"/>
          </a:xfrm>
          <a:prstGeom prst="rect">
            <a:avLst/>
          </a:prstGeom>
          <a:solidFill>
            <a:srgbClr val="1F316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ounded Rectangle 5"/>
          <p:cNvSpPr/>
          <p:nvPr/>
        </p:nvSpPr>
        <p:spPr>
          <a:xfrm>
            <a:off x="731520" y="1371600"/>
            <a:ext cx="2542032" cy="1051560"/>
          </a:xfrm>
          <a:prstGeom prst="roundRect">
            <a:avLst/>
          </a:prstGeom>
          <a:solidFill>
            <a:srgbClr val="131E3D"/>
          </a:solidFill>
          <a:ln w="12700">
            <a:solidFill>
              <a:srgbClr val="2979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tIns="91440" lIns="137160" rIns="137160"/>
          <a:lstStyle/>
          <a:p>
            <a:pPr algn="ctr">
              <a:defRPr sz="1800" b="1">
                <a:solidFill>
                  <a:srgbClr val="00E676"/>
                </a:solidFill>
              </a:defRPr>
            </a:pPr>
            <a:r>
              <a:t>&gt;500x</a:t>
            </a:r>
          </a:p>
          <a:p>
            <a:pPr>
              <a:spcBef>
                <a:spcPts val="200"/>
              </a:spcBef>
              <a:defRPr sz="1050" b="1">
                <a:solidFill>
                  <a:srgbClr val="FFFFFF"/>
                </a:solidFill>
              </a:defRPr>
            </a:pPr>
            <a:r>
              <a:t>Vault Storage Compression</a:t>
            </a:r>
          </a:p>
          <a:p>
            <a:pPr>
              <a:spcBef>
                <a:spcPts val="100"/>
              </a:spcBef>
              <a:defRPr sz="850">
                <a:solidFill>
                  <a:srgbClr val="B0BED2"/>
                </a:solidFill>
              </a:defRPr>
            </a:pPr>
            <a:r>
              <a:t>zstd blocks minimize multi-petabyte log storage costs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3456432" y="1371600"/>
            <a:ext cx="2542032" cy="1051560"/>
          </a:xfrm>
          <a:prstGeom prst="roundRect">
            <a:avLst/>
          </a:prstGeom>
          <a:solidFill>
            <a:srgbClr val="131E3D"/>
          </a:solidFill>
          <a:ln w="12700">
            <a:solidFill>
              <a:srgbClr val="2979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tIns="91440" lIns="137160" rIns="137160"/>
          <a:lstStyle/>
          <a:p>
            <a:pPr algn="ctr">
              <a:defRPr sz="1800" b="1">
                <a:solidFill>
                  <a:srgbClr val="00E676"/>
                </a:solidFill>
              </a:defRPr>
            </a:pPr>
            <a:r>
              <a:t>&gt;20,000/s</a:t>
            </a:r>
          </a:p>
          <a:p>
            <a:pPr>
              <a:spcBef>
                <a:spcPts val="200"/>
              </a:spcBef>
              <a:defRPr sz="1050" b="1">
                <a:solidFill>
                  <a:srgbClr val="FFFFFF"/>
                </a:solidFill>
              </a:defRPr>
            </a:pPr>
            <a:r>
              <a:t>Chain Verification Rate</a:t>
            </a:r>
          </a:p>
          <a:p>
            <a:pPr>
              <a:spcBef>
                <a:spcPts val="100"/>
              </a:spcBef>
              <a:defRPr sz="850">
                <a:solidFill>
                  <a:srgbClr val="B0BED2"/>
                </a:solidFill>
              </a:defRPr>
            </a:pPr>
            <a:r>
              <a:t>Real-time mathematical validation against insider tampering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6181344" y="1371600"/>
            <a:ext cx="2542032" cy="1051560"/>
          </a:xfrm>
          <a:prstGeom prst="roundRect">
            <a:avLst/>
          </a:prstGeom>
          <a:solidFill>
            <a:srgbClr val="131E3D"/>
          </a:solidFill>
          <a:ln w="12700">
            <a:solidFill>
              <a:srgbClr val="2979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tIns="91440" lIns="137160" rIns="137160"/>
          <a:lstStyle/>
          <a:p>
            <a:pPr algn="ctr">
              <a:defRPr sz="1800" b="1">
                <a:solidFill>
                  <a:srgbClr val="00E676"/>
                </a:solidFill>
              </a:defRPr>
            </a:pPr>
            <a:r>
              <a:t>&lt;70 ms</a:t>
            </a:r>
          </a:p>
          <a:p>
            <a:pPr>
              <a:spcBef>
                <a:spcPts val="200"/>
              </a:spcBef>
              <a:defRPr sz="1050" b="1">
                <a:solidFill>
                  <a:srgbClr val="FFFFFF"/>
                </a:solidFill>
              </a:defRPr>
            </a:pPr>
            <a:r>
              <a:t>DuckDB SQL Query Speed</a:t>
            </a:r>
          </a:p>
          <a:p>
            <a:pPr>
              <a:spcBef>
                <a:spcPts val="100"/>
              </a:spcBef>
              <a:defRPr sz="850">
                <a:solidFill>
                  <a:srgbClr val="B0BED2"/>
                </a:solidFill>
              </a:defRPr>
            </a:pPr>
            <a:r>
              <a:t>Sub-second threat hunting with predicate pushdown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8906256" y="1371600"/>
            <a:ext cx="2542032" cy="1051560"/>
          </a:xfrm>
          <a:prstGeom prst="roundRect">
            <a:avLst/>
          </a:prstGeom>
          <a:solidFill>
            <a:srgbClr val="131E3D"/>
          </a:solidFill>
          <a:ln w="12700">
            <a:solidFill>
              <a:srgbClr val="2979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tIns="91440" lIns="137160" rIns="137160"/>
          <a:lstStyle/>
          <a:p>
            <a:pPr algn="ctr">
              <a:defRPr sz="1800" b="1">
                <a:solidFill>
                  <a:srgbClr val="00E676"/>
                </a:solidFill>
              </a:defRPr>
            </a:pPr>
            <a:r>
              <a:t>&lt;5 Mins</a:t>
            </a:r>
          </a:p>
          <a:p>
            <a:pPr>
              <a:spcBef>
                <a:spcPts val="200"/>
              </a:spcBef>
              <a:defRPr sz="1050" b="1">
                <a:solidFill>
                  <a:srgbClr val="FFFFFF"/>
                </a:solidFill>
              </a:defRPr>
            </a:pPr>
            <a:r>
              <a:t>New Vendor Onboarding</a:t>
            </a:r>
          </a:p>
          <a:p>
            <a:pPr>
              <a:spcBef>
                <a:spcPts val="100"/>
              </a:spcBef>
              <a:defRPr sz="850">
                <a:solidFill>
                  <a:srgbClr val="B0BED2"/>
                </a:solidFill>
              </a:defRPr>
            </a:pPr>
            <a:r>
              <a:t>Declarative YAML packs eliminate weeks of bespoke coding</a:t>
            </a:r>
          </a:p>
        </p:txBody>
      </p:sp>
      <p:sp>
        <p:nvSpPr>
          <p:cNvPr id="10" name="Rectangle 9"/>
          <p:cNvSpPr/>
          <p:nvPr/>
        </p:nvSpPr>
        <p:spPr>
          <a:xfrm>
            <a:off x="731520" y="2560320"/>
            <a:ext cx="6858000" cy="292608"/>
          </a:xfrm>
          <a:prstGeom prst="rect">
            <a:avLst/>
          </a:prstGeom>
          <a:solidFill>
            <a:srgbClr val="102A5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050" b="1">
                <a:solidFill>
                  <a:srgbClr val="00E5FF"/>
                </a:solidFill>
              </a:defRPr>
            </a:pPr>
            <a:r>
              <a:t>  FEATURE COMPARISON MATRIX VS EXISTING REPOSITORIES</a:t>
            </a:r>
          </a:p>
        </p:txBody>
      </p:sp>
      <p:graphicFrame>
        <p:nvGraphicFramePr>
          <p:cNvPr id="11" name="Table 10"/>
          <p:cNvGraphicFramePr>
            <a:graphicFrameLocks noGrp="1"/>
          </p:cNvGraphicFramePr>
          <p:nvPr/>
        </p:nvGraphicFramePr>
        <p:xfrm>
          <a:off x="731520" y="2871216"/>
          <a:ext cx="6858000" cy="338328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560320"/>
                <a:gridCol w="1280160"/>
                <a:gridCol w="1280160"/>
                <a:gridCol w="1737360"/>
              </a:tblGrid>
              <a:tr h="483325">
                <a:tc>
                  <a:txBody>
                    <a:bodyPr wrap="square" lIns="73152" rIns="73152" tIns="36576" bIns="36576"/>
                    <a:lstStyle/>
                    <a:p>
                      <a:pPr>
                        <a:defRPr sz="900" b="1">
                          <a:solidFill>
                            <a:srgbClr val="00E5FF"/>
                          </a:solidFill>
                        </a:defRPr>
                      </a:pPr>
                      <a:r>
                        <a:t>Evaluated Capability</a:t>
                      </a:r>
                    </a:p>
                  </a:txBody>
                  <a:tcPr>
                    <a:solidFill>
                      <a:srgbClr val="192850"/>
                    </a:solidFill>
                  </a:tcPr>
                </a:tc>
                <a:tc>
                  <a:txBody>
                    <a:bodyPr wrap="square" lIns="73152" rIns="73152" tIns="36576" bIns="36576"/>
                    <a:lstStyle/>
                    <a:p>
                      <a:pPr>
                        <a:defRPr sz="900" b="1">
                          <a:solidFill>
                            <a:srgbClr val="00E5FF"/>
                          </a:solidFill>
                        </a:defRPr>
                      </a:pPr>
                      <a:r>
                        <a:t>Competitor A</a:t>
                      </a:r>
                    </a:p>
                  </a:txBody>
                  <a:tcPr>
                    <a:solidFill>
                      <a:srgbClr val="192850"/>
                    </a:solidFill>
                  </a:tcPr>
                </a:tc>
                <a:tc>
                  <a:txBody>
                    <a:bodyPr wrap="square" lIns="73152" rIns="73152" tIns="36576" bIns="36576"/>
                    <a:lstStyle/>
                    <a:p>
                      <a:pPr>
                        <a:defRPr sz="900" b="1">
                          <a:solidFill>
                            <a:srgbClr val="00E5FF"/>
                          </a:solidFill>
                        </a:defRPr>
                      </a:pPr>
                      <a:r>
                        <a:t>Competitor B</a:t>
                      </a:r>
                    </a:p>
                  </a:txBody>
                  <a:tcPr>
                    <a:solidFill>
                      <a:srgbClr val="192850"/>
                    </a:solidFill>
                  </a:tcPr>
                </a:tc>
                <a:tc>
                  <a:txBody>
                    <a:bodyPr wrap="square" lIns="73152" rIns="73152" tIns="36576" bIns="36576"/>
                    <a:lstStyle/>
                    <a:p>
                      <a:pPr>
                        <a:defRPr sz="900" b="1">
                          <a:solidFill>
                            <a:srgbClr val="00E5FF"/>
                          </a:solidFill>
                        </a:defRPr>
                      </a:pPr>
                      <a:r>
                        <a:t>Team LunarX (ULPF)</a:t>
                      </a:r>
                    </a:p>
                  </a:txBody>
                  <a:tcPr>
                    <a:solidFill>
                      <a:srgbClr val="192850"/>
                    </a:solidFill>
                  </a:tcPr>
                </a:tc>
              </a:tr>
              <a:tr h="483325">
                <a:tc>
                  <a:txBody>
                    <a:bodyPr wrap="square" lIns="73152" rIns="73152" tIns="36576" bIns="36576"/>
                    <a:lstStyle/>
                    <a:p>
                      <a:pPr>
                        <a:defRPr sz="900">
                          <a:solidFill>
                            <a:srgbClr val="FFFFFF"/>
                          </a:solidFill>
                        </a:defRPr>
                      </a:pPr>
                      <a:r>
                        <a:t>Write-Before-Parse Vault</a:t>
                      </a:r>
                    </a:p>
                  </a:txBody>
                  <a:tcPr>
                    <a:solidFill>
                      <a:srgbClr val="0F1731"/>
                    </a:solidFill>
                  </a:tcPr>
                </a:tc>
                <a:tc>
                  <a:txBody>
                    <a:bodyPr wrap="square" lIns="73152" rIns="73152" tIns="36576" bIns="36576"/>
                    <a:lstStyle/>
                    <a:p>
                      <a:pPr>
                        <a:defRPr sz="900">
                          <a:solidFill>
                            <a:srgbClr val="FF7878"/>
                          </a:solidFill>
                        </a:defRPr>
                      </a:pPr>
                      <a:r>
                        <a:t>❌ Receipt only</a:t>
                      </a:r>
                    </a:p>
                  </a:txBody>
                  <a:tcPr>
                    <a:solidFill>
                      <a:srgbClr val="0F1731"/>
                    </a:solidFill>
                  </a:tcPr>
                </a:tc>
                <a:tc>
                  <a:txBody>
                    <a:bodyPr wrap="square" lIns="73152" rIns="73152" tIns="36576" bIns="36576"/>
                    <a:lstStyle/>
                    <a:p>
                      <a:pPr>
                        <a:defRPr sz="900">
                          <a:solidFill>
                            <a:srgbClr val="FFB300"/>
                          </a:solidFill>
                        </a:defRPr>
                      </a:pPr>
                      <a:r>
                        <a:t>⚠️ Partial</a:t>
                      </a:r>
                    </a:p>
                  </a:txBody>
                  <a:tcPr>
                    <a:solidFill>
                      <a:srgbClr val="0F1731"/>
                    </a:solidFill>
                  </a:tcPr>
                </a:tc>
                <a:tc>
                  <a:txBody>
                    <a:bodyPr wrap="square" lIns="73152" rIns="73152" tIns="36576" bIns="36576"/>
                    <a:lstStyle/>
                    <a:p>
                      <a:pPr>
                        <a:defRPr sz="900" b="1">
                          <a:solidFill>
                            <a:srgbClr val="00E676"/>
                          </a:solidFill>
                        </a:defRPr>
                      </a:pPr>
                      <a:r>
                        <a:t>✅ zstd + CRC-32 + RawRef</a:t>
                      </a:r>
                    </a:p>
                  </a:txBody>
                  <a:tcPr>
                    <a:solidFill>
                      <a:srgbClr val="0F1731"/>
                    </a:solidFill>
                  </a:tcPr>
                </a:tc>
              </a:tr>
              <a:tr h="483325">
                <a:tc>
                  <a:txBody>
                    <a:bodyPr wrap="square" lIns="73152" rIns="73152" tIns="36576" bIns="36576"/>
                    <a:lstStyle/>
                    <a:p>
                      <a:pPr>
                        <a:defRPr sz="900">
                          <a:solidFill>
                            <a:srgbClr val="FFFFFF"/>
                          </a:solidFill>
                        </a:defRPr>
                      </a:pPr>
                      <a:r>
                        <a:t>Telemetry Vector Matcher</a:t>
                      </a:r>
                    </a:p>
                  </a:txBody>
                  <a:tcPr>
                    <a:solidFill>
                      <a:srgbClr val="131E3D"/>
                    </a:solidFill>
                  </a:tcPr>
                </a:tc>
                <a:tc>
                  <a:txBody>
                    <a:bodyPr wrap="square" lIns="73152" rIns="73152" tIns="36576" bIns="36576"/>
                    <a:lstStyle/>
                    <a:p>
                      <a:pPr>
                        <a:defRPr sz="900">
                          <a:solidFill>
                            <a:srgbClr val="FF7878"/>
                          </a:solidFill>
                        </a:defRPr>
                      </a:pPr>
                      <a:r>
                        <a:t>❌ None</a:t>
                      </a:r>
                    </a:p>
                  </a:txBody>
                  <a:tcPr>
                    <a:solidFill>
                      <a:srgbClr val="131E3D"/>
                    </a:solidFill>
                  </a:tcPr>
                </a:tc>
                <a:tc>
                  <a:txBody>
                    <a:bodyPr wrap="square" lIns="73152" rIns="73152" tIns="36576" bIns="36576"/>
                    <a:lstStyle/>
                    <a:p>
                      <a:pPr>
                        <a:defRPr sz="900">
                          <a:solidFill>
                            <a:srgbClr val="FF7878"/>
                          </a:solidFill>
                        </a:defRPr>
                      </a:pPr>
                      <a:r>
                        <a:t>❌ None</a:t>
                      </a:r>
                    </a:p>
                  </a:txBody>
                  <a:tcPr>
                    <a:solidFill>
                      <a:srgbClr val="131E3D"/>
                    </a:solidFill>
                  </a:tcPr>
                </a:tc>
                <a:tc>
                  <a:txBody>
                    <a:bodyPr wrap="square" lIns="73152" rIns="73152" tIns="36576" bIns="36576"/>
                    <a:lstStyle/>
                    <a:p>
                      <a:pPr>
                        <a:defRPr sz="900" b="1">
                          <a:solidFill>
                            <a:srgbClr val="00E676"/>
                          </a:solidFill>
                        </a:defRPr>
                      </a:pPr>
                      <a:r>
                        <a:t>✅ 384-dim Offline FAISS</a:t>
                      </a:r>
                    </a:p>
                  </a:txBody>
                  <a:tcPr>
                    <a:solidFill>
                      <a:srgbClr val="131E3D"/>
                    </a:solidFill>
                  </a:tcPr>
                </a:tc>
              </a:tr>
              <a:tr h="483325">
                <a:tc>
                  <a:txBody>
                    <a:bodyPr wrap="square" lIns="73152" rIns="73152" tIns="36576" bIns="36576"/>
                    <a:lstStyle/>
                    <a:p>
                      <a:pPr>
                        <a:defRPr sz="900">
                          <a:solidFill>
                            <a:srgbClr val="FFFFFF"/>
                          </a:solidFill>
                        </a:defRPr>
                      </a:pPr>
                      <a:r>
                        <a:t>Air-Gap Safe (Zero Cloud)</a:t>
                      </a:r>
                    </a:p>
                  </a:txBody>
                  <a:tcPr>
                    <a:solidFill>
                      <a:srgbClr val="0F1731"/>
                    </a:solidFill>
                  </a:tcPr>
                </a:tc>
                <a:tc>
                  <a:txBody>
                    <a:bodyPr wrap="square" lIns="73152" rIns="73152" tIns="36576" bIns="36576"/>
                    <a:lstStyle/>
                    <a:p>
                      <a:pPr>
                        <a:defRPr sz="900">
                          <a:solidFill>
                            <a:srgbClr val="FF7878"/>
                          </a:solidFill>
                        </a:defRPr>
                      </a:pPr>
                      <a:r>
                        <a:t>❌ Uses OpenAI</a:t>
                      </a:r>
                    </a:p>
                  </a:txBody>
                  <a:tcPr>
                    <a:solidFill>
                      <a:srgbClr val="0F1731"/>
                    </a:solidFill>
                  </a:tcPr>
                </a:tc>
                <a:tc>
                  <a:txBody>
                    <a:bodyPr wrap="square" lIns="73152" rIns="73152" tIns="36576" bIns="36576"/>
                    <a:lstStyle/>
                    <a:p>
                      <a:pPr>
                        <a:defRPr sz="900">
                          <a:solidFill>
                            <a:srgbClr val="FFB300"/>
                          </a:solidFill>
                        </a:defRPr>
                      </a:pPr>
                      <a:r>
                        <a:t>⚠️ Partial</a:t>
                      </a:r>
                    </a:p>
                  </a:txBody>
                  <a:tcPr>
                    <a:solidFill>
                      <a:srgbClr val="0F1731"/>
                    </a:solidFill>
                  </a:tcPr>
                </a:tc>
                <a:tc>
                  <a:txBody>
                    <a:bodyPr wrap="square" lIns="73152" rIns="73152" tIns="36576" bIns="36576"/>
                    <a:lstStyle/>
                    <a:p>
                      <a:pPr>
                        <a:defRPr sz="900" b="1">
                          <a:solidFill>
                            <a:srgbClr val="00E676"/>
                          </a:solidFill>
                        </a:defRPr>
                      </a:pPr>
                      <a:r>
                        <a:t>✅ 100% Zero-Socket Leak</a:t>
                      </a:r>
                    </a:p>
                  </a:txBody>
                  <a:tcPr>
                    <a:solidFill>
                      <a:srgbClr val="0F1731"/>
                    </a:solidFill>
                  </a:tcPr>
                </a:tc>
              </a:tr>
              <a:tr h="483325">
                <a:tc>
                  <a:txBody>
                    <a:bodyPr wrap="square" lIns="73152" rIns="73152" tIns="36576" bIns="36576"/>
                    <a:lstStyle/>
                    <a:p>
                      <a:pPr>
                        <a:defRPr sz="900">
                          <a:solidFill>
                            <a:srgbClr val="FFFFFF"/>
                          </a:solidFill>
                        </a:defRPr>
                      </a:pPr>
                      <a:r>
                        <a:t>OCSF Schema Standard</a:t>
                      </a:r>
                    </a:p>
                  </a:txBody>
                  <a:tcPr>
                    <a:solidFill>
                      <a:srgbClr val="131E3D"/>
                    </a:solidFill>
                  </a:tcPr>
                </a:tc>
                <a:tc>
                  <a:txBody>
                    <a:bodyPr wrap="square" lIns="73152" rIns="73152" tIns="36576" bIns="36576"/>
                    <a:lstStyle/>
                    <a:p>
                      <a:pPr>
                        <a:defRPr sz="900">
                          <a:solidFill>
                            <a:srgbClr val="FFFFFF"/>
                          </a:solidFill>
                        </a:defRPr>
                      </a:pPr>
                      <a:r>
                        <a:t>None / Legacy</a:t>
                      </a:r>
                    </a:p>
                  </a:txBody>
                  <a:tcPr>
                    <a:solidFill>
                      <a:srgbClr val="131E3D"/>
                    </a:solidFill>
                  </a:tcPr>
                </a:tc>
                <a:tc>
                  <a:txBody>
                    <a:bodyPr wrap="square" lIns="73152" rIns="73152" tIns="36576" bIns="36576"/>
                    <a:lstStyle/>
                    <a:p>
                      <a:pPr>
                        <a:defRPr sz="900">
                          <a:solidFill>
                            <a:srgbClr val="FFFFFF"/>
                          </a:solidFill>
                        </a:defRPr>
                      </a:pPr>
                      <a:r>
                        <a:t>OCSF v1.3</a:t>
                      </a:r>
                    </a:p>
                  </a:txBody>
                  <a:tcPr>
                    <a:solidFill>
                      <a:srgbClr val="131E3D"/>
                    </a:solidFill>
                  </a:tcPr>
                </a:tc>
                <a:tc>
                  <a:txBody>
                    <a:bodyPr wrap="square" lIns="73152" rIns="73152" tIns="36576" bIns="36576"/>
                    <a:lstStyle/>
                    <a:p>
                      <a:pPr>
                        <a:defRPr sz="900" b="1">
                          <a:solidFill>
                            <a:srgbClr val="00E676"/>
                          </a:solidFill>
                        </a:defRPr>
                      </a:pPr>
                      <a:r>
                        <a:t>✅ OCSF 1.9.0 (Latest)</a:t>
                      </a:r>
                    </a:p>
                  </a:txBody>
                  <a:tcPr>
                    <a:solidFill>
                      <a:srgbClr val="131E3D"/>
                    </a:solidFill>
                  </a:tcPr>
                </a:tc>
              </a:tr>
              <a:tr h="483325">
                <a:tc>
                  <a:txBody>
                    <a:bodyPr wrap="square" lIns="73152" rIns="73152" tIns="36576" bIns="36576"/>
                    <a:lstStyle/>
                    <a:p>
                      <a:pPr>
                        <a:defRPr sz="900">
                          <a:solidFill>
                            <a:srgbClr val="FFFFFF"/>
                          </a:solidFill>
                        </a:defRPr>
                      </a:pPr>
                      <a:r>
                        <a:t>Cryptographic Tamper-Chain</a:t>
                      </a:r>
                    </a:p>
                  </a:txBody>
                  <a:tcPr>
                    <a:solidFill>
                      <a:srgbClr val="0F1731"/>
                    </a:solidFill>
                  </a:tcPr>
                </a:tc>
                <a:tc>
                  <a:txBody>
                    <a:bodyPr wrap="square" lIns="73152" rIns="73152" tIns="36576" bIns="36576"/>
                    <a:lstStyle/>
                    <a:p>
                      <a:pPr>
                        <a:defRPr sz="900">
                          <a:solidFill>
                            <a:srgbClr val="FF7878"/>
                          </a:solidFill>
                        </a:defRPr>
                      </a:pPr>
                      <a:r>
                        <a:t>❌ Database only</a:t>
                      </a:r>
                    </a:p>
                  </a:txBody>
                  <a:tcPr>
                    <a:solidFill>
                      <a:srgbClr val="0F1731"/>
                    </a:solidFill>
                  </a:tcPr>
                </a:tc>
                <a:tc>
                  <a:txBody>
                    <a:bodyPr wrap="square" lIns="73152" rIns="73152" tIns="36576" bIns="36576"/>
                    <a:lstStyle/>
                    <a:p>
                      <a:pPr>
                        <a:defRPr sz="900">
                          <a:solidFill>
                            <a:srgbClr val="FFB300"/>
                          </a:solidFill>
                        </a:defRPr>
                      </a:pPr>
                      <a:r>
                        <a:t>⚠️ Basic Hash</a:t>
                      </a:r>
                    </a:p>
                  </a:txBody>
                  <a:tcPr>
                    <a:solidFill>
                      <a:srgbClr val="0F1731"/>
                    </a:solidFill>
                  </a:tcPr>
                </a:tc>
                <a:tc>
                  <a:txBody>
                    <a:bodyPr wrap="square" lIns="73152" rIns="73152" tIns="36576" bIns="36576"/>
                    <a:lstStyle/>
                    <a:p>
                      <a:pPr>
                        <a:defRPr sz="900" b="1">
                          <a:solidFill>
                            <a:srgbClr val="00E676"/>
                          </a:solidFill>
                        </a:defRPr>
                      </a:pPr>
                      <a:r>
                        <a:t>✅ RFC 8785 + BLAKE3</a:t>
                      </a:r>
                    </a:p>
                  </a:txBody>
                  <a:tcPr>
                    <a:solidFill>
                      <a:srgbClr val="0F1731"/>
                    </a:solidFill>
                  </a:tcPr>
                </a:tc>
              </a:tr>
              <a:tr h="483330">
                <a:tc>
                  <a:txBody>
                    <a:bodyPr wrap="square" lIns="73152" rIns="73152" tIns="36576" bIns="36576"/>
                    <a:lstStyle/>
                    <a:p>
                      <a:pPr>
                        <a:defRPr sz="900">
                          <a:solidFill>
                            <a:srgbClr val="FFFFFF"/>
                          </a:solidFill>
                        </a:defRPr>
                      </a:pPr>
                      <a:r>
                        <a:t>Merkle Inclusion Proofs</a:t>
                      </a:r>
                    </a:p>
                  </a:txBody>
                  <a:tcPr>
                    <a:solidFill>
                      <a:srgbClr val="131E3D"/>
                    </a:solidFill>
                  </a:tcPr>
                </a:tc>
                <a:tc>
                  <a:txBody>
                    <a:bodyPr wrap="square" lIns="73152" rIns="73152" tIns="36576" bIns="36576"/>
                    <a:lstStyle/>
                    <a:p>
                      <a:pPr>
                        <a:defRPr sz="900">
                          <a:solidFill>
                            <a:srgbClr val="FF7878"/>
                          </a:solidFill>
                        </a:defRPr>
                      </a:pPr>
                      <a:r>
                        <a:t>❌ None</a:t>
                      </a:r>
                    </a:p>
                  </a:txBody>
                  <a:tcPr>
                    <a:solidFill>
                      <a:srgbClr val="131E3D"/>
                    </a:solidFill>
                  </a:tcPr>
                </a:tc>
                <a:tc>
                  <a:txBody>
                    <a:bodyPr wrap="square" lIns="73152" rIns="73152" tIns="36576" bIns="36576"/>
                    <a:lstStyle/>
                    <a:p>
                      <a:pPr>
                        <a:defRPr sz="900">
                          <a:solidFill>
                            <a:srgbClr val="FF7878"/>
                          </a:solidFill>
                        </a:defRPr>
                      </a:pPr>
                      <a:r>
                        <a:t>❌ None</a:t>
                      </a:r>
                    </a:p>
                  </a:txBody>
                  <a:tcPr>
                    <a:solidFill>
                      <a:srgbClr val="131E3D"/>
                    </a:solidFill>
                  </a:tcPr>
                </a:tc>
                <a:tc>
                  <a:txBody>
                    <a:bodyPr wrap="square" lIns="73152" rIns="73152" tIns="36576" bIns="36576"/>
                    <a:lstStyle/>
                    <a:p>
                      <a:pPr>
                        <a:defRPr sz="900" b="1">
                          <a:solidFill>
                            <a:srgbClr val="00E676"/>
                          </a:solidFill>
                        </a:defRPr>
                      </a:pPr>
                      <a:r>
                        <a:t>✅ RFC 6962 ceil(log2 N)</a:t>
                      </a:r>
                    </a:p>
                  </a:txBody>
                  <a:tcPr>
                    <a:solidFill>
                      <a:srgbClr val="131E3D"/>
                    </a:solidFill>
                  </a:tcPr>
                </a:tc>
              </a:tr>
            </a:tbl>
          </a:graphicData>
        </a:graphic>
      </p:graphicFrame>
      <p:sp>
        <p:nvSpPr>
          <p:cNvPr id="12" name="Rounded Rectangle 11"/>
          <p:cNvSpPr/>
          <p:nvPr/>
        </p:nvSpPr>
        <p:spPr>
          <a:xfrm>
            <a:off x="7772400" y="2560320"/>
            <a:ext cx="3687775" cy="3694176"/>
          </a:xfrm>
          <a:prstGeom prst="roundRect">
            <a:avLst/>
          </a:prstGeom>
          <a:solidFill>
            <a:srgbClr val="131E3D"/>
          </a:solidFill>
          <a:ln w="19050">
            <a:solidFill>
              <a:srgbClr val="FFB3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tIns="137160" lIns="164592" rIns="164592"/>
          <a:lstStyle/>
          <a:p>
            <a:pPr algn="ctr">
              <a:defRPr sz="1200" b="1">
                <a:solidFill>
                  <a:srgbClr val="FFB300"/>
                </a:solidFill>
              </a:defRPr>
            </a:pPr>
            <a:r>
              <a:t>STRATEGIC IMPACT FOR NTRO</a:t>
            </a:r>
          </a:p>
          <a:p>
            <a:pPr>
              <a:spcBef>
                <a:spcPts val="600"/>
              </a:spcBef>
              <a:defRPr sz="950" b="1">
                <a:solidFill>
                  <a:srgbClr val="00E5FF"/>
                </a:solidFill>
              </a:defRPr>
            </a:pPr>
            <a:r>
              <a:t>• Forensic Court Admissibility:</a:t>
            </a:r>
          </a:p>
          <a:p>
            <a:pPr>
              <a:spcBef>
                <a:spcPts val="100"/>
              </a:spcBef>
              <a:defRPr sz="850">
                <a:solidFill>
                  <a:srgbClr val="B0BED2"/>
                </a:solidFill>
              </a:defRPr>
            </a:pPr>
            <a:r>
              <a:t>  Cryptographic chain of custody complies with judicial standards under the Indian Evidence Act for cyber incident prosecution.</a:t>
            </a:r>
          </a:p>
          <a:p>
            <a:pPr>
              <a:spcBef>
                <a:spcPts val="600"/>
              </a:spcBef>
              <a:defRPr sz="950" b="1">
                <a:solidFill>
                  <a:srgbClr val="00E5FF"/>
                </a:solidFill>
              </a:defRPr>
            </a:pPr>
            <a:r>
              <a:t>• Zero-Knowledge Multi-Agency Auditing:</a:t>
            </a:r>
          </a:p>
          <a:p>
            <a:pPr>
              <a:spcBef>
                <a:spcPts val="100"/>
              </a:spcBef>
              <a:defRPr sz="850">
                <a:solidFill>
                  <a:srgbClr val="B0BED2"/>
                </a:solidFill>
              </a:defRPr>
            </a:pPr>
            <a:r>
              <a:t>  RFC 6962 Merkle proofs allow NTRO to prove log existence to defense intelligence partners without revealing classified payload data.</a:t>
            </a:r>
          </a:p>
          <a:p>
            <a:pPr>
              <a:spcBef>
                <a:spcPts val="600"/>
              </a:spcBef>
              <a:defRPr sz="950" b="1">
                <a:solidFill>
                  <a:srgbClr val="00E5FF"/>
                </a:solidFill>
              </a:defRPr>
            </a:pPr>
            <a:r>
              <a:t>• Sovereign Air-Gapped Autonomy:</a:t>
            </a:r>
          </a:p>
          <a:p>
            <a:pPr>
              <a:spcBef>
                <a:spcPts val="100"/>
              </a:spcBef>
              <a:defRPr sz="850">
                <a:solidFill>
                  <a:srgbClr val="B0BED2"/>
                </a:solidFill>
              </a:defRPr>
            </a:pPr>
            <a:r>
              <a:t>  Runs in fully disconnected tactical networks with zero external model dependencies or cloud vulnerabilities.</a:t>
            </a:r>
          </a:p>
          <a:p>
            <a:pPr>
              <a:spcBef>
                <a:spcPts val="600"/>
              </a:spcBef>
              <a:defRPr sz="950" b="1">
                <a:solidFill>
                  <a:srgbClr val="00E5FF"/>
                </a:solidFill>
              </a:defRPr>
            </a:pPr>
            <a:r>
              <a:t>• Next-Gen AI/ML Readiness:</a:t>
            </a:r>
          </a:p>
          <a:p>
            <a:pPr>
              <a:spcBef>
                <a:spcPts val="100"/>
              </a:spcBef>
              <a:defRPr sz="850">
                <a:solidFill>
                  <a:srgbClr val="B0BED2"/>
                </a:solidFill>
              </a:defRPr>
            </a:pPr>
            <a:r>
              <a:t>  Python SDK (ulpf-py) provides instant bridge to PyArrow &amp; Spark for training anomaly detection and Isolation Forests on normalized logs.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