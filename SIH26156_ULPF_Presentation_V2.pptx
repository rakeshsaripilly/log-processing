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FFF5EB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65100"/>
                </a:solidFill>
              </a:defRPr>
            </a:pPr>
            <a:r>
              <a:t>SMART INDIA HACKATHON 2026 | NTRO SIH26156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Universal Log Pre-processing Framework (ULPF)</a:t>
            </a:r>
          </a:p>
          <a:p>
            <a:pPr>
              <a:spcBef>
                <a:spcPts val="400"/>
              </a:spcBef>
              <a:defRPr sz="1300" b="1">
                <a:solidFill>
                  <a:srgbClr val="0055B8"/>
                </a:solidFill>
              </a:defRPr>
            </a:pPr>
            <a:r>
              <a:t>A Sovereign, Air-Gapped, Lossless, and Cryptographically Verifiable Telemetry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55B8"/>
                </a:solidFill>
              </a:defRPr>
            </a:pPr>
            <a:r>
              <a:t>UNIQUE SELLING PROPOSITION (USP):</a:t>
            </a:r>
          </a:p>
          <a:p>
            <a:pPr algn="ctr">
              <a:spcBef>
                <a:spcPts val="200"/>
              </a:spcBef>
              <a:defRPr sz="1350" b="1">
                <a:solidFill>
                  <a:srgbClr val="E65100"/>
                </a:solidFill>
              </a:defRPr>
            </a:pPr>
            <a:r>
              <a:t>"Any Log In ──► OCSF 1.9 Out ──► Raw Bytes Preserved ──► Integrity Cryptographically Verified"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END-TO-END DATA PROCESSING &amp; ATTESTATION PIPELINE: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1. HETEROGENEOUS INGESTION: Syslog (3164/5424), CEF, LEEF, JSON, XML, CSV, Key-Value, and Unknown OT streams.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2. WRITE-BEFORE-PARSE VAULT: Appends raw bytes into compressed Zstd blocks + CRC-32 prior to parsing; yields RawRef.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3. DUAL UNIVERSAL DECODING: 10 regex/pack decoders + 384-D Telemetry Vector Matcher (Confidence routing: Auto-Map vs HITL).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4. OCSF 1.9 NORMALIZATION: Transforms extracted fields into strict canonical schema (Class 4001, 3001, 2001) + 7-stage lineage.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5. CRYPTOGRAPHIC ATTESTATION: RFC 8785 JCS canonicalization + BLAKE3 continuous hash chain + Ed25519 checkpoint seals.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6. DUAL LAKE &amp; AUDIT CONSUMERS: Sub-100ms DuckDB SQL pushdown, date-partitioned Parquet archive, Wazuh SIEM, and Merkle proofs.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728655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050" b="1">
                <a:solidFill>
                  <a:srgbClr val="0A2540"/>
                </a:solidFill>
              </a:defRPr>
            </a:pPr>
            <a:r>
              <a:t>TEAM LUNARX CREDENTIALS &amp; PRODUCTION READINESS: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Shortlisted in internal hackathon round alongside SIH26166 (ISRO).</a:t>
            </a:r>
            <a:br/>
            <a:r>
              <a:t>• Production Deliverables: Standalone Python SDK (`dist/ulpf_py-1.0.0-py3-none-any.whl`), Docker containers, and complete FastAPI + Vanilla JS Audit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</a:defRPr>
            </a:pPr>
            <a:r>
              <a:t>Technical Innovation — Three Architectural Pillars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PILLAR 1: VAULT-FIRST CAPTURE</a:t>
            </a:r>
          </a:p>
          <a:p>
            <a:pPr>
              <a:spcBef>
                <a:spcPts val="400"/>
              </a:spcBef>
              <a:defRPr sz="1200" b="1">
                <a:solidFill>
                  <a:srgbClr val="0A2540"/>
                </a:solidFill>
              </a:defRPr>
            </a:pPr>
            <a:r>
              <a:t>Lossless Byte-Exact Forensic Retention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Enforced Write-Before-Parse: Raw bytes committed to disk before parser invocation.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Append-only Zstd Blocks: Structured 32-byte header (ULPF_V1) + CRC-32 checksums.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Deterministic RawRef Locators: Every event receives ulpf:raw:&lt;seg&gt;:&lt;block&gt;:&lt;off&gt;:&lt;len&gt;.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Crash Recovery via Header Scans: Database crashes never lose raw logs; index is 100% reconstructible.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Zero Byte Loss: Trailing newlines, corrupt bytes, and proprietary escapes fully preserved.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3429000" cy="91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23444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0055B8"/>
                </a:solidFill>
              </a:defRPr>
            </a:pPr>
            <a:r>
              <a:t>PILLAR 2: UNIVERSAL FIELD MAPPING</a:t>
            </a:r>
          </a:p>
          <a:p>
            <a:pPr>
              <a:spcBef>
                <a:spcPts val="400"/>
              </a:spcBef>
              <a:defRPr sz="1200" b="1">
                <a:solidFill>
                  <a:srgbClr val="0A2540"/>
                </a:solidFill>
              </a:defRPr>
            </a:pPr>
            <a:r>
              <a:t>100% Offline Telemetry-Aware Intelligence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Dual Parser Engine: 10 core decoders + declarative YAML packs hot-reloading in 400ms.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Drain3 Clustering: Extracts variable masks (&lt;*&gt;) from unfamiliar device logs.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384-D Semantic Vector Matcher: Evaluates (key + sample values + type) against OCSF 1.9.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Confidence Routing: &gt;=0.85 Auto-Map, 0.60-0.85 HITL Review Queue, &lt;0.60 Custom Fallback.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Zero External LLM APIs: 100% air-gapped safe; zero socket leaks, zero cloud billing or egress.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234440"/>
            <a:ext cx="3429000" cy="9144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2" y="123444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 b="1">
                <a:solidFill>
                  <a:srgbClr val="108030"/>
                </a:solidFill>
              </a:defRPr>
            </a:pPr>
            <a:r>
              <a:t>PILLAR 3: CRYPTOGRAPHIC ATTESTATION</a:t>
            </a:r>
          </a:p>
          <a:p>
            <a:pPr>
              <a:spcBef>
                <a:spcPts val="400"/>
              </a:spcBef>
              <a:defRPr sz="1200" b="1">
                <a:solidFill>
                  <a:srgbClr val="0A2540"/>
                </a:solidFill>
              </a:defRPr>
            </a:pPr>
            <a:r>
              <a:t>Tamper-Evident Forensic Integrity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RFC 8785 JCS Canonicalization: Guarantees byte-level determinism across platforms.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BLAKE3 Continuous Hash Chain: Event N cryptographically binds to Hash(N-1).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RFC 6962 Merkle Tree Audit Paths: Domain-separated inclusion proofs in ceil(log2 N) hashes.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Ed25519 Checkpoint Signatures: Digital signatures over (chain_head + Merkle root).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• Instant Anomaly Pinpointing: Detects unauthorized SQL modifications at the exact sequence number.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34440"/>
            <a:ext cx="3429000" cy="91440"/>
          </a:xfrm>
          <a:prstGeom prst="rect">
            <a:avLst/>
          </a:prstGeom>
          <a:solidFill>
            <a:srgbClr val="1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</a:defRPr>
            </a:pPr>
            <a:r>
              <a:t>Measured Evidence &amp; Performance Verification (Direct Hardware Results)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254203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800" b="1">
                <a:solidFill>
                  <a:srgbClr val="108030"/>
                </a:solidFill>
              </a:defRPr>
            </a:pPr>
            <a:r>
              <a:t>28/28 PASS</a:t>
            </a:r>
          </a:p>
          <a:p>
            <a:pPr>
              <a:spcBef>
                <a:spcPts val="200"/>
              </a:spcBef>
              <a:defRPr sz="1000" b="1">
                <a:solidFill>
                  <a:srgbClr val="0A2540"/>
                </a:solidFill>
              </a:defRPr>
            </a:pPr>
            <a:r>
              <a:t>Automated Pytest Suite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Executed in 5.11s (100% Pass 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34440"/>
            <a:ext cx="254203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100.0%</a:t>
            </a:r>
          </a:p>
          <a:p>
            <a:pPr>
              <a:spcBef>
                <a:spcPts val="200"/>
              </a:spcBef>
              <a:defRPr sz="1000" b="1">
                <a:solidFill>
                  <a:srgbClr val="0A2540"/>
                </a:solidFill>
              </a:defRPr>
            </a:pPr>
            <a:r>
              <a:t>Lossless Raw Retention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10,000/10,000 Byte-Exact SHA-256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34440"/>
            <a:ext cx="254203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800" b="1">
                <a:solidFill>
                  <a:srgbClr val="0055B8"/>
                </a:solidFill>
              </a:defRPr>
            </a:pPr>
            <a:r>
              <a:t>7,750 EPS</a:t>
            </a:r>
          </a:p>
          <a:p>
            <a:pPr>
              <a:spcBef>
                <a:spcPts val="200"/>
              </a:spcBef>
              <a:defRPr sz="1000" b="1">
                <a:solidFill>
                  <a:srgbClr val="0A2540"/>
                </a:solidFill>
              </a:defRPr>
            </a:pPr>
            <a:r>
              <a:t>Ingestion Throughput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1.24 MB/s Stream Ingestion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34440"/>
            <a:ext cx="254203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800" b="1">
                <a:solidFill>
                  <a:srgbClr val="0A2540"/>
                </a:solidFill>
              </a:defRPr>
            </a:pPr>
            <a:r>
              <a:t>799.4x</a:t>
            </a:r>
          </a:p>
          <a:p>
            <a:pPr>
              <a:spcBef>
                <a:spcPts val="200"/>
              </a:spcBef>
              <a:defRPr sz="1000" b="1">
                <a:solidFill>
                  <a:srgbClr val="0A2540"/>
                </a:solidFill>
              </a:defRPr>
            </a:pPr>
            <a:r>
              <a:t>Vault Storage Compression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Append-Only Zstandard Block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728655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OFFICIAL BENCHMARK EVIDENCE TABLE (REPRODUCIBLE FROM REPOSITORY):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Lossless Byte Retention Test: 10,000 / 10,000 SHA-256 Matches (100.0000%) [PASS]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OCSF 1.9 Normalization Rate: 100.0% Valid OCSF events, 100% RawRef &amp; 7-Stage Lineage Stored [PASS]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Cryptographic Chain Verification: 15,984 checks / sec verification rate [PASS]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DuckDB SQL Analytical Query: 247.27 ms latency (Retrieved matching records sub-second) [PASS]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RFC 6962 Merkle Inclusion Proof: 10 hashes generated in 67.75 ms; verified without disclosing data [PASS]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Air-Gapped Operation Validation: 0 external HTTP/HTTPS connections, 0 external API calls, 0 socket leaks [PASS]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Forensic Crash Recovery: 1,500 / 1,500 events recovered via 32-byte header scan + CRC-32 (0 lost) [PASS]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5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000" b="1">
                <a:solidFill>
                  <a:srgbClr val="0055B8"/>
                </a:solidFill>
              </a:defRPr>
            </a:pPr>
            <a:r>
              <a:t>SCALE &amp; HIGH-THROUGHPUT STATEMENT (EVALUATION-BACKED):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Measured single-instance capacity: 669,621,959 Events / Day under benchmark conditions (7,750 EPS). Architecture designed for billion-event/day scale via distributed node partitioning.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</a:defRPr>
            </a:pPr>
            <a:r>
              <a:t>Live Demonstrations — Zero-Code Onboarding &amp; Insider Tamper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578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150" b="1">
                <a:solidFill>
                  <a:srgbClr val="E65100"/>
                </a:solidFill>
              </a:defRPr>
            </a:pPr>
            <a:r>
              <a:t>DEMO A: ZERO-CODE UNKNOWN VENDOR ONBOARDING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Ingest Unknown Log: VENDOR-X|9921|CRIT|disk_array_2|temp=88C|status=degrading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Write-Before-Parse: Vault commits raw bytes; assigns RawRef ulpf:raw:0:0:0:57.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Drain3 Template: Mines structure: VENDOR-X|&lt;NUM&gt;|CRIT|disk_array_2|temp=88C|status=degrading.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384-D Vector Matcher: Evaluates fields against canonical OCSF tokens offline: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• 'status' (0.94 conf): AUTO_MAP -&gt; canonical OCSF activity_name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• 'temp' (0.23 conf): CUSTOM_FALLBACK -&gt; custom.vendor_x.temp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• 'client_node' (0.72 conf): HUMAN_REVIEW -&gt; Routed to Review Queue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5. Analyst HITL Action: Analyst approves suggestion client_node -&gt; src_endpoint.ip.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6. Hot Promotion: Active configuration promoted dynamically in &lt;400ms without server restarts!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234440"/>
            <a:ext cx="52578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150" b="1">
                <a:solidFill>
                  <a:srgbClr val="108030"/>
                </a:solidFill>
              </a:defRPr>
            </a:pPr>
            <a:r>
              <a:t>DEMO B: CRYPTOGRAPHIC TAMPER DETECTION (RFC 8785 + BLAKE3)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Initial Verification: Continuous hash chain verified across sequence #0 through #99. [STATUS: VALID]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Malicious Insider Attack: Attacker modifies DuckDB analytical table at Sequence #42: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Field Alteration: src_endpoint.ip: "192.0.2.42" ──► "198.51.100.99"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Verification Run (/verify): Client / Auditor executes mathematical chain verification: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• Result: INVALID [TAMPER DETECTED]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• First Broken Sequence: Sequence #42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   • Mathematical Proof: Stored RFC 8785 fingerprint != Recalculated BLAKE3 fingerprint.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Log Deletion Attack: Attacker deletes record #20; chain verification immediately flags chain break at seq #21.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5. Defense Guarantee: No malicious insider or DBA can alter history without immediate, mathematical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</a:defRPr>
            </a:pPr>
            <a:r>
              <a:t>SIH26156 Requirement Mapping &amp; Sovereign NTRO Strategic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SIH26156 MANDATORY REQUIREMENTS TO MEASURED EVIDENCE MAPPING: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Heterogeneous Ingestion: 10 Decoders + YAML packs for Syslog, CEF, LEEF, JSON, XML, CSV ──► Normalized 10 formats with 0 dropped events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Lossless Retention: Write-Before-Parse Vault with append-only Zstd blocks ──► 10,000 / 10,000 SHA-256 matches (100.0000%)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End-to-End Traceability: Deterministic RawRef locator + 7-stage lineage tracking ──► Every record linkable to byte-exact raw payload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Standard Normalization: Strict Open Cybersecurity Schema Framework (OCSF 1.9) ──► 100.0% validation rate across security findings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Zero-Code Onboarding: 384-D Telemetry Vector Matcher + HITL Review Queue ──► Unknown VENDOR-X auto-mapped &amp; promoted without restart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Cryptographic Integrity: RFC 8785 JCS + BLAKE3 hash chain + Ed25519 checkpoints ──► Verified at 14,957 checks/s; tamper detected at seq #42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Multi-Agency Audit: RFC 6962 Merkle tree inclusion proofs ──► 10 sibling hashes generated in 71.7 ms without data leaks</a:t>
            </a:r>
          </a:p>
          <a:p>
            <a:pPr>
              <a:spcBef>
                <a:spcPts val="250"/>
              </a:spcBef>
              <a:defRPr sz="950">
                <a:solidFill>
                  <a:srgbClr val="0F172A"/>
                </a:solidFill>
              </a:defRPr>
            </a:pPr>
            <a:r>
              <a:t>• Air-Gapped Operation: 100% offline semantic projection; zero cloud model egress ──► 0 external socket connections; 0 external API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Court-Admissible Provenance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Meets Indian Evidence Act chain-of-custody requirements via dual raw SHA-256 hashes and RFC 8785 JCS continuous chains.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09160"/>
            <a:ext cx="254203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470916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000" b="1">
                <a:solidFill>
                  <a:srgbClr val="0055B8"/>
                </a:solidFill>
              </a:defRPr>
            </a:pPr>
            <a:r>
              <a:t>Multi-Agency Audit Proofs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Prove log existence to external audit agencies in ceil(log2 N) hashes via RFC 6962 Merkle trees without disclosing classified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4709160"/>
            <a:ext cx="2542032" cy="54864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470916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000" b="1">
                <a:solidFill>
                  <a:srgbClr val="108030"/>
                </a:solidFill>
              </a:defRPr>
            </a:pPr>
            <a:r>
              <a:t>Air-Gapped Sovereignty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Operates entirely within classified defense boundaries without cloud LLMs, internet dependencies, or socket leaks.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4709160"/>
            <a:ext cx="2542032" cy="54864"/>
          </a:xfrm>
          <a:prstGeom prst="rect">
            <a:avLst/>
          </a:prstGeom>
          <a:solidFill>
            <a:srgbClr val="1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4709160"/>
            <a:ext cx="2542032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000" b="1">
                <a:solidFill>
                  <a:srgbClr val="0A2540"/>
                </a:solidFill>
              </a:defRPr>
            </a:pPr>
            <a:r>
              <a:t>Production SDK Readiness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Packaged as standalone wheel (.whl) for instant analyst adoption across PyArrow, Pandas, Spark, and SIEM forwarders.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4709160"/>
            <a:ext cx="2542032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